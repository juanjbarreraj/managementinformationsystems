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8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Priority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Score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Backup/DR</c:v>
                </c:pt>
                <c:pt idx="1">
                  <c:v>MFA/Admin</c:v>
                </c:pt>
                <c:pt idx="2">
                  <c:v>Servers</c:v>
                </c:pt>
                <c:pt idx="3">
                  <c:v>Firewall/ISP</c:v>
                </c:pt>
                <c:pt idx="4">
                  <c:v>Monitoring</c:v>
                </c:pt>
                <c:pt idx="5">
                  <c:v>Storage</c:v>
                </c:pt>
                <c:pt idx="6">
                  <c:v>Training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6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F8-0E4D-A827-B2235C9998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Keystone Distribution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87878"/>
                </a:solidFill>
              </a:rPr>
              <a:t>Infrastructure Risk Assessment &amp; Operational Improvement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58600" cy="36576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466816"/>
            <a:ext cx="67665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>
                <a:solidFill>
                  <a:srgbClr val="1F4E79"/>
                </a:solidFill>
              </a:rPr>
              <a:t>Recommendation: phased hybrid modernization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rPr dirty="0"/>
              <a:t>Stabilize backups, identity, servers, networking, and monitoring before expanding cloud workloads.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120" y="3337560"/>
            <a:ext cx="356616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600" b="1">
                <a:solidFill>
                  <a:srgbClr val="4472C4"/>
                </a:solidFill>
              </a:rPr>
              <a:t>Business Context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120 employees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2 office locations + warehouse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Customer web portal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Inventory management systems</a:t>
            </a:r>
          </a:p>
          <a:p>
            <a:pPr>
              <a:defRPr sz="1200">
                <a:solidFill>
                  <a:srgbClr val="282828"/>
                </a:solidFill>
              </a:defRPr>
            </a:pPr>
            <a:r>
              <a:t>Recent outages + backup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E15D7-E459-8421-C463-66A4D9F2D446}"/>
              </a:ext>
            </a:extLst>
          </p:cNvPr>
          <p:cNvSpPr txBox="1"/>
          <p:nvPr/>
        </p:nvSpPr>
        <p:spPr>
          <a:xfrm>
            <a:off x="762000" y="2304609"/>
            <a:ext cx="4471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Juan Barrera</a:t>
            </a:r>
            <a:br>
              <a:rPr lang="en-US" dirty="0"/>
            </a:br>
            <a:r>
              <a:rPr lang="en-US" dirty="0"/>
              <a:t>Professor Jeffrey Seaman</a:t>
            </a:r>
          </a:p>
          <a:p>
            <a:r>
              <a:rPr lang="en-US" dirty="0"/>
              <a:t>Management Information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Specific Infrastructure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87878"/>
                </a:solidFill>
              </a:rPr>
              <a:t>The risks are tied to specific technology areas, not just generic categories.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58600" cy="36576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3375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C00000"/>
                </a:solidFill>
              </a:rPr>
              <a:t>Servers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KS-SRV01: customer portal / web app (assumed)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KS-SRV02: inventory DB/app (assumed)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KS-SRV03: AD/file/print/backup tasks (assumed)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All 6 years old; no failover or redundancy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234440"/>
            <a:ext cx="33375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ED7D31"/>
                </a:solidFill>
              </a:rPr>
              <a:t>Networking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Two offices + warehouse on single ISP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Older firewall appliance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Likely flat LAN; no VLAN segmentation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No network monitoring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234440"/>
            <a:ext cx="32461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C00000"/>
                </a:solidFill>
              </a:rPr>
              <a:t>Storage &amp; Backup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Production storage nearly full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Manual weekly backups only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No offsite or immutable copy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No restore testing or DR runbook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886200"/>
            <a:ext cx="33375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C00000"/>
                </a:solidFill>
              </a:rPr>
              <a:t>Security Controls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No MFA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Shared admin passwords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Password reuse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No centralized logs/SIEM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886200"/>
            <a:ext cx="33375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4472C4"/>
                </a:solidFill>
              </a:rPr>
              <a:t>Staffing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Small IT support team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No dedicated cybersecurity role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Limited cloud experience</a:t>
            </a:r>
          </a:p>
          <a:p>
            <a:pPr>
              <a:defRPr sz="950">
                <a:solidFill>
                  <a:srgbClr val="282828"/>
                </a:solidFill>
              </a:defRPr>
            </a:pPr>
            <a:r>
              <a:t>Needs MSP/MSSP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Key Risk Findings — Specific Issues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87878"/>
                </a:solidFill>
              </a:rPr>
              <a:t>Each risk is connected to a specific system or control weakness.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58600" cy="36576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864724"/>
              </p:ext>
            </p:extLst>
          </p:nvPr>
        </p:nvGraphicFramePr>
        <p:xfrm>
          <a:off x="411480" y="1234440"/>
          <a:ext cx="9189720" cy="518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4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4988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Risk Area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Specific Risk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Business Impact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049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t>Server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KS-SRV01/02/03 are standalone 6-year-old physical servers with no failover.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Failure can stop customer portal, inventory, file access, or warehouse operations.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Critical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t>Backup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Manual weekly backups; no offsite/immutable copy; backup failures already happened.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Data loss, ransomware recovery failure, multi-day outage.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Critical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t>Identity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No MFA + shared admin passwords.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One stolen password can give broad privileged access.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Critical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Single ISP + old firewall + likely flat LAN.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Carrier/firewall failure affects both offices and warehouse; malware can spread.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High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t>Logging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No centralized logging or security monitoring.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Slow incident response; no clear audit trail after breach.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High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992"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t>Staffing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/>
                        <a:t>Small IT team with no cybersecurity specialist.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600" dirty="0"/>
                        <a:t>Controls may not be maintained without MSP/MSSP support.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Medium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Risk Register by Assignment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87878"/>
                </a:solidFill>
              </a:rPr>
              <a:t>Required risk categories: operational, security, and business continuity.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58600" cy="36576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1188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400" b="1">
                <a:solidFill>
                  <a:srgbClr val="ED7D31"/>
                </a:solidFill>
              </a:rPr>
              <a:t>5 Operational Risks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Aging servers: hardware failure risk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No virtualization/failover: slow recovery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Single ISP: office/warehouse outage risk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Storage almost full: app slowdowns and failed backups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No monitoring: failures discovered too 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61188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400" b="1">
                <a:solidFill>
                  <a:srgbClr val="C00000"/>
                </a:solidFill>
              </a:rPr>
              <a:t>5 Security Risks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No MFA: stolen passwords can work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Shared admin passwords: no accountability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Older firewall: weak perimeter defense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No centralized logging: poor breach investigation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Limited training: phishing/password reuse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234440"/>
            <a:ext cx="361188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400" b="1">
                <a:solidFill>
                  <a:srgbClr val="1F4E79"/>
                </a:solidFill>
              </a:rPr>
              <a:t>3 Business Continuity Risks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No backup redundancy: permanent data loss risk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No DR plan: no clear RTO/RPO or recovery order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No failover: one failure can stop core logistics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Real Service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87878"/>
                </a:solidFill>
              </a:rPr>
              <a:t>Recommended tools/services by infrastructure layer.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58600" cy="36576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729960"/>
              </p:ext>
            </p:extLst>
          </p:nvPr>
        </p:nvGraphicFramePr>
        <p:xfrm>
          <a:off x="320040" y="1115568"/>
          <a:ext cx="9326880" cy="559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l">
                        <a:defRPr sz="71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1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Recommended Services / Tools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1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Why This Fits Keystone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t>Servers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Dell PowerEdge R760xs or HPE DL380 Gen11 two-node cluster; Hyper-V or VMware; migrate customer portal to AWS ALB + ECS </a:t>
                      </a:r>
                      <a:r>
                        <a:rPr sz="1400" dirty="0" err="1"/>
                        <a:t>Fargate</a:t>
                      </a:r>
                      <a:r>
                        <a:rPr sz="1400" dirty="0"/>
                        <a:t>/EC2 Auto Scaling + Amazon RDS.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Replaces aging servers, creates failover, and prepares cloud migration.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Fortinet FortiGate 100F/200F or equivalent NGFW; secondary ISP; VLANs for servers, users, warehouse/IoT, guest Wi-Fi, management; PRTG/Zabbix/</a:t>
                      </a:r>
                      <a:r>
                        <a:rPr sz="1400" dirty="0" err="1"/>
                        <a:t>Auvik</a:t>
                      </a:r>
                      <a:r>
                        <a:rPr sz="1400" dirty="0"/>
                        <a:t> monitoring.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Reduces outage risk, improves security, and gives IT visibility.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Dell </a:t>
                      </a:r>
                      <a:r>
                        <a:rPr sz="1400" dirty="0" err="1"/>
                        <a:t>PowerVault</a:t>
                      </a:r>
                      <a:r>
                        <a:rPr sz="1400" dirty="0"/>
                        <a:t> ME5 or Synology </a:t>
                      </a:r>
                      <a:r>
                        <a:rPr sz="1400" dirty="0" err="1"/>
                        <a:t>RackStation</a:t>
                      </a:r>
                      <a:r>
                        <a:rPr sz="1400" dirty="0"/>
                        <a:t>/SA-series; RAID, snapshots, redundant power, capacity alerts, 25–30% free-space policy.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Fixes storage shortage and supports reliable backups.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t>Backup/DR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Veeam Backup &amp; Replication; local immutable repository; AWS S3 Object Lock + Glacier; AWS Elastic Disaster Recovery for critical servers; monthly restore tests.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Protects against data loss, ransomware, and server/site failure.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Microsoft 365 Business Premium: </a:t>
                      </a:r>
                      <a:r>
                        <a:rPr sz="1400" dirty="0" err="1"/>
                        <a:t>Entra</a:t>
                      </a:r>
                      <a:r>
                        <a:rPr sz="1400" dirty="0"/>
                        <a:t> MFA/Conditional Access, Defender for Business, Intune; Microsoft Sentinel or </a:t>
                      </a:r>
                      <a:r>
                        <a:rPr sz="1400" dirty="0" err="1"/>
                        <a:t>Wazuh</a:t>
                      </a:r>
                      <a:r>
                        <a:rPr sz="1400" dirty="0"/>
                        <a:t> SIEM; password vault.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Strong SMB security stack sized for 120 employees.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t>IT Ops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Asset inventory, patch schedule, runbooks, change log, network diagrams; MSP/MSSP for firewall, backup, endpoint, SIEM monitoring.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1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Small IT team gets repeatable processes and expert support.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Priority Ranking — Why Each Score Was Assigned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87878"/>
                </a:solidFill>
              </a:rPr>
              <a:t>Score = likelihood + severity + business impact. 10 means fund immediately.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58600" cy="36576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805503"/>
              </p:ext>
            </p:extLst>
          </p:nvPr>
        </p:nvGraphicFramePr>
        <p:xfrm>
          <a:off x="0" y="1253986"/>
          <a:ext cx="5830770" cy="3722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927814"/>
              </p:ext>
            </p:extLst>
          </p:nvPr>
        </p:nvGraphicFramePr>
        <p:xfrm>
          <a:off x="5577840" y="1234440"/>
          <a:ext cx="5669280" cy="4761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l">
                        <a:defRPr sz="79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 b="1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 marL="38100" marR="38100" marT="25400" marB="25400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Backup/DR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Failures already happened; no offsite copy; data loss would stop operations.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MFA/Admin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No MFA + shared admin account is immediate breach path.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Servers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6-year-old standalone servers support critical workloads.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Firewall/ISP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One ISP and old firewall can disrupt every site.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Monitoring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Needed to detect outages/incidents, but after data/access controls.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Storage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Capacity risk is high but can be managed after backup plan.</a:t>
                      </a:r>
                    </a:p>
                  </a:txBody>
                  <a:tcPr marL="38100" marR="38100" marT="25400" marB="25400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400" dirty="0"/>
                        <a:t>Training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282828"/>
                          </a:solidFill>
                        </a:defRPr>
                      </a:pPr>
                      <a:r>
                        <a:rPr sz="1800" dirty="0"/>
                        <a:t>Important, but technical controls must come first.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Final Recommendation: Hybrid Modernization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87878"/>
                </a:solidFill>
              </a:rPr>
              <a:t>Do not remain fully on-premise. Move the right workloads to cloud in phases.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58600" cy="36576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118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C00000"/>
                </a:solidFill>
              </a:rPr>
              <a:t>0–30 Days: Emergency Controls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MFA + remove shared admin passwords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Daily backups + offsite immutable copies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Basic monitoring + inventory documentation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Firewall rule review and patching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43000"/>
            <a:ext cx="36118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ED7D31"/>
                </a:solidFill>
              </a:rPr>
              <a:t>31–90 Days: Stabilize Infrastructure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Replace/virtualize aging servers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Upgrade firewall + add secondary ISP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Segment network with VLANs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Deploy endpoint/security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143000"/>
            <a:ext cx="36118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70AD47"/>
                </a:solidFill>
              </a:rPr>
              <a:t>3–12 Months: Cloud Growth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Migrate email/files/security to Microsoft 365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Replicate critical workloads with AWS DRS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Move customer portal to AWS when ready</a:t>
            </a:r>
          </a:p>
          <a:p>
            <a:pPr>
              <a:defRPr sz="960">
                <a:solidFill>
                  <a:srgbClr val="282828"/>
                </a:solidFill>
              </a:defRPr>
            </a:pPr>
            <a:r>
              <a:t>Add DR testing and cost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77639"/>
            <a:ext cx="5440680" cy="196596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1F4E79"/>
                </a:solidFill>
              </a:rPr>
              <a:t>Cost Anchors</a:t>
            </a:r>
          </a:p>
          <a:p>
            <a:pPr>
              <a:defRPr sz="919">
                <a:solidFill>
                  <a:srgbClr val="282828"/>
                </a:solidFill>
              </a:defRPr>
            </a:pPr>
            <a:r>
              <a:t>Microsoft 365 Business Premium: 120 × $22 = ~$2,640/month</a:t>
            </a:r>
          </a:p>
          <a:p>
            <a:pPr>
              <a:defRPr sz="919">
                <a:solidFill>
                  <a:srgbClr val="282828"/>
                </a:solidFill>
              </a:defRPr>
            </a:pPr>
            <a:r>
              <a:t>AWS DRS service: 3 × 730 × $0.028 = ~$61/month before storage/EC2 drill costs</a:t>
            </a:r>
          </a:p>
          <a:p>
            <a:pPr>
              <a:defRPr sz="919">
                <a:solidFill>
                  <a:srgbClr val="282828"/>
                </a:solidFill>
              </a:defRPr>
            </a:pPr>
            <a:r>
              <a:t>AWS backup planning: 3 TB × $0.05/GB-month ≈ $150/month before transfers/retention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394960" cy="196596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01600" rtlCol="0" anchor="ctr"/>
          <a:lstStyle/>
          <a:p>
            <a:pPr algn="ctr"/>
            <a:r>
              <a:rPr sz="1300" b="1">
                <a:solidFill>
                  <a:srgbClr val="1F4E79"/>
                </a:solidFill>
              </a:rPr>
              <a:t>Decision</a:t>
            </a:r>
          </a:p>
          <a:p>
            <a:pPr>
              <a:defRPr sz="919">
                <a:solidFill>
                  <a:srgbClr val="282828"/>
                </a:solidFill>
              </a:defRPr>
            </a:pPr>
            <a:r>
              <a:t>Hybrid is the best fit: local resilience for warehouse operations plus cloud backup, identity, DR, collaboration, and customer portal scalability.</a:t>
            </a:r>
          </a:p>
          <a:p>
            <a:pPr>
              <a:defRPr sz="919">
                <a:solidFill>
                  <a:srgbClr val="282828"/>
                </a:solidFill>
              </a:defRPr>
            </a:pPr>
            <a:r>
              <a:t>Use MSP/MSSP support because the internal IT team is too small for 24/7 security and monitoring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7878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1091</Words>
  <Application>Microsoft Macintosh PowerPoint</Application>
  <PresentationFormat>Widescreen</PresentationFormat>
  <Paragraphs>168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Juan Barrera</dc:creator>
  <cp:keywords/>
  <dc:description/>
  <cp:lastModifiedBy>Barrera, Juan J</cp:lastModifiedBy>
  <cp:revision>3</cp:revision>
  <dcterms:created xsi:type="dcterms:W3CDTF">2013-01-27T09:14:16Z</dcterms:created>
  <dcterms:modified xsi:type="dcterms:W3CDTF">2026-05-25T21:25:31Z</dcterms:modified>
  <cp:category/>
</cp:coreProperties>
</file>