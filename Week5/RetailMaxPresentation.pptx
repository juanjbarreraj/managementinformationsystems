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Trend</c:v>
                </c:pt>
              </c:strCache>
            </c:strRef>
          </c:tx>
          <c:spPr>
            <a:ln w="27940" cap="flat">
              <a:solidFill>
                <a:srgbClr val="2F75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75B5"/>
              </a:solidFill>
              <a:ln w="9525" cap="flat">
                <a:solidFill>
                  <a:srgbClr val="2F75B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844872.6</c:v>
                </c:pt>
                <c:pt idx="1">
                  <c:v>826792.02000000014</c:v>
                </c:pt>
                <c:pt idx="2">
                  <c:v>972561.45000000054</c:v>
                </c:pt>
                <c:pt idx="3">
                  <c:v>1029893.48</c:v>
                </c:pt>
                <c:pt idx="4">
                  <c:v>1122932.6399999999</c:v>
                </c:pt>
                <c:pt idx="5">
                  <c:v>1159230.1600000006</c:v>
                </c:pt>
                <c:pt idx="6">
                  <c:v>1199263.06</c:v>
                </c:pt>
                <c:pt idx="7">
                  <c:v>1186344.78</c:v>
                </c:pt>
                <c:pt idx="8">
                  <c:v>1076452.9099999997</c:v>
                </c:pt>
                <c:pt idx="9">
                  <c:v>1134717.73</c:v>
                </c:pt>
                <c:pt idx="10">
                  <c:v>1570487.8500000003</c:v>
                </c:pt>
                <c:pt idx="11">
                  <c:v>1763642.9999999993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65-EE45-A694-B669351B4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Margin Trend</c:v>
                </c:pt>
              </c:strCache>
            </c:strRef>
          </c:tx>
          <c:spPr>
            <a:ln w="27940" cap="flat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0.32466854766032183</c:v>
                </c:pt>
                <c:pt idx="1">
                  <c:v>0.31749360619131273</c:v>
                </c:pt>
                <c:pt idx="2">
                  <c:v>0.31316912674258257</c:v>
                </c:pt>
                <c:pt idx="3">
                  <c:v>0.30833722726354185</c:v>
                </c:pt>
                <c:pt idx="4">
                  <c:v>0.30248195475019768</c:v>
                </c:pt>
                <c:pt idx="5">
                  <c:v>0.29587723114450376</c:v>
                </c:pt>
                <c:pt idx="6">
                  <c:v>0.28964277445517261</c:v>
                </c:pt>
                <c:pt idx="7">
                  <c:v>0.28752727347946849</c:v>
                </c:pt>
                <c:pt idx="8">
                  <c:v>0.27615606520121738</c:v>
                </c:pt>
                <c:pt idx="9">
                  <c:v>0.27158417626910608</c:v>
                </c:pt>
                <c:pt idx="10">
                  <c:v>0.25669921610663837</c:v>
                </c:pt>
                <c:pt idx="11">
                  <c:v>0.22930502941921924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B7-7146-857A-001AC4587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Region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South</c:v>
                </c:pt>
                <c:pt idx="2">
                  <c:v>Southeast</c:v>
                </c:pt>
                <c:pt idx="3">
                  <c:v>Midwest</c:v>
                </c:pt>
                <c:pt idx="4">
                  <c:v>Northeast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3166671.959999999</c:v>
                </c:pt>
                <c:pt idx="1">
                  <c:v>2905456.4599999972</c:v>
                </c:pt>
                <c:pt idx="2">
                  <c:v>2883546.3000000021</c:v>
                </c:pt>
                <c:pt idx="3">
                  <c:v>2475171.6200000006</c:v>
                </c:pt>
                <c:pt idx="4">
                  <c:v>2456345.3400000012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6F-0442-B160-680D05343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Revenue Stores</c:v>
                </c:pt>
              </c:strCache>
            </c:strRef>
          </c:tx>
          <c:spPr>
            <a:solidFill>
              <a:srgbClr val="163B5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Seattle
RM-16</c:v>
                </c:pt>
                <c:pt idx="1">
                  <c:v>Austin
RM-07</c:v>
                </c:pt>
                <c:pt idx="2">
                  <c:v>Phoenix
RM-18</c:v>
                </c:pt>
                <c:pt idx="3">
                  <c:v>Las Vegas
RM-20</c:v>
                </c:pt>
                <c:pt idx="4">
                  <c:v>Miami
RM-21</c:v>
                </c:pt>
                <c:pt idx="5">
                  <c:v>Orlando
RM-22</c:v>
                </c:pt>
                <c:pt idx="6">
                  <c:v>Houston
RM-08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730856.29</c:v>
                </c:pt>
                <c:pt idx="1">
                  <c:v>697607.46</c:v>
                </c:pt>
                <c:pt idx="2">
                  <c:v>682360.66999999993</c:v>
                </c:pt>
                <c:pt idx="3">
                  <c:v>665469.38</c:v>
                </c:pt>
                <c:pt idx="4">
                  <c:v>659892.61999999988</c:v>
                </c:pt>
                <c:pt idx="5">
                  <c:v>618435.09</c:v>
                </c:pt>
                <c:pt idx="6">
                  <c:v>614910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E0-CC48-A38D-9F33EE532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by Product Category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Apparel</c:v>
                </c:pt>
                <c:pt idx="2">
                  <c:v>Home Goods</c:v>
                </c:pt>
                <c:pt idx="3">
                  <c:v>Beauty</c:v>
                </c:pt>
                <c:pt idx="4">
                  <c:v>Sports</c:v>
                </c:pt>
                <c:pt idx="5">
                  <c:v>Grocery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1124161.5600000003</c:v>
                </c:pt>
                <c:pt idx="1">
                  <c:v>788430.41000000038</c:v>
                </c:pt>
                <c:pt idx="2">
                  <c:v>767715.33000000007</c:v>
                </c:pt>
                <c:pt idx="3">
                  <c:v>604999.69000000029</c:v>
                </c:pt>
                <c:pt idx="4">
                  <c:v>579316.90999999968</c:v>
                </c:pt>
                <c:pt idx="5">
                  <c:v>78428.17999999992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9E-0443-92EE-9932B563C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by Product Category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Apparel</c:v>
                </c:pt>
                <c:pt idx="2">
                  <c:v>Home Goods</c:v>
                </c:pt>
                <c:pt idx="3">
                  <c:v>Beauty</c:v>
                </c:pt>
                <c:pt idx="4">
                  <c:v>Sports</c:v>
                </c:pt>
                <c:pt idx="5">
                  <c:v>Grocery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0.2057064556044067</c:v>
                </c:pt>
                <c:pt idx="1">
                  <c:v>0.37813046158385394</c:v>
                </c:pt>
                <c:pt idx="2">
                  <c:v>0.31847564661171107</c:v>
                </c:pt>
                <c:pt idx="3">
                  <c:v>0.4987118431354759</c:v>
                </c:pt>
                <c:pt idx="4">
                  <c:v>0.33936728284526979</c:v>
                </c:pt>
                <c:pt idx="5">
                  <c:v>7.7924316692805223E-2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46-A64D-B073-2AF268367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Lowest Satisfaction Stores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Detroit
RM-12</c:v>
                </c:pt>
                <c:pt idx="1">
                  <c:v>Buffalo
RM-04</c:v>
                </c:pt>
                <c:pt idx="2">
                  <c:v>Providence
RM-05</c:v>
                </c:pt>
                <c:pt idx="3">
                  <c:v>Philadelphia
RM-03</c:v>
                </c:pt>
                <c:pt idx="4">
                  <c:v>Cleveland
RM-13</c:v>
                </c:pt>
                <c:pt idx="5">
                  <c:v>New Orleans
RM-25</c:v>
                </c:pt>
                <c:pt idx="6">
                  <c:v>Chicago
RM-11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3.250694444444445</c:v>
                </c:pt>
                <c:pt idx="1">
                  <c:v>3.3522222222222222</c:v>
                </c:pt>
                <c:pt idx="2">
                  <c:v>3.417222222222223</c:v>
                </c:pt>
                <c:pt idx="3">
                  <c:v>3.5522222222222202</c:v>
                </c:pt>
                <c:pt idx="4">
                  <c:v>3.5529166666666665</c:v>
                </c:pt>
                <c:pt idx="5">
                  <c:v>3.5691666666666659</c:v>
                </c:pt>
                <c:pt idx="6">
                  <c:v>3.6016666666666657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C6-174B-85B3-BB32BA13D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per Employee by Region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South</c:v>
                </c:pt>
                <c:pt idx="2">
                  <c:v>Southeast</c:v>
                </c:pt>
                <c:pt idx="3">
                  <c:v>Midwest</c:v>
                </c:pt>
                <c:pt idx="4">
                  <c:v>Northeast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1819.9264137931029</c:v>
                </c:pt>
                <c:pt idx="1">
                  <c:v>1775.9513814180912</c:v>
                </c:pt>
                <c:pt idx="2">
                  <c:v>1785.4775851393201</c:v>
                </c:pt>
                <c:pt idx="3">
                  <c:v>1836.1807270029678</c:v>
                </c:pt>
                <c:pt idx="4">
                  <c:v>1866.5238145896667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9-1E4A-AFD5-5B705EE301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70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2560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RetailMax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658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Analytics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462272" y="2011680"/>
            <a:ext cx="6217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Profitability analysis across 25 regional stores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80560" y="4983480"/>
            <a:ext cx="3566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Prepared by Juan José Barrera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Masters Information Systems</a:t>
            </a:r>
            <a:br>
              <a:rPr lang="en-US" sz="1350" dirty="0">
                <a:solidFill>
                  <a:srgbClr val="1F2937"/>
                </a:solidFill>
              </a:rPr>
            </a:br>
            <a:r>
              <a:rPr lang="en-US" sz="1350" dirty="0">
                <a:solidFill>
                  <a:srgbClr val="1F2937"/>
                </a:solidFill>
              </a:rPr>
              <a:t>Professor Jeffrey Seaman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REVENUE
</a:t>
            </a:r>
            <a:r>
              <a:rPr lang="en-US" sz="2000" b="1" dirty="0">
                <a:solidFill>
                  <a:srgbClr val="1F2937"/>
                </a:solidFill>
              </a:rPr>
              <a:t>$13.9M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PROFIT
</a:t>
            </a:r>
            <a:r>
              <a:rPr lang="en-US" sz="2000" b="1" dirty="0">
                <a:solidFill>
                  <a:srgbClr val="1F2937"/>
                </a:solidFill>
              </a:rPr>
              <a:t>$3.9M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58368" y="393192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MARGIN
</a:t>
            </a:r>
            <a:r>
              <a:rPr lang="en-US" sz="2000" b="1" dirty="0">
                <a:solidFill>
                  <a:srgbClr val="1F2937"/>
                </a:solidFill>
              </a:rPr>
              <a:t>28.4%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480560" y="2926080"/>
            <a:ext cx="6126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B5C"/>
                </a:solidFill>
              </a:rPr>
              <a:t>Key question: sales increased, but profitability is under pressure. Where can RetailMax protect margin and improve store execution?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DCEBFA"/>
                </a:solidFill>
              </a:rPr>
              <a:t>RetailMax performance 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TOTAL REVENUE
</a:t>
            </a:r>
            <a:r>
              <a:rPr lang="en-US" sz="2000" b="1" dirty="0">
                <a:solidFill>
                  <a:srgbClr val="1F2937"/>
                </a:solidFill>
              </a:rPr>
              <a:t>$13.9M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697480" y="841248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TOTAL PROFIT
</a:t>
            </a:r>
            <a:r>
              <a:rPr lang="en-US" sz="2000" b="1" dirty="0">
                <a:solidFill>
                  <a:srgbClr val="1F2937"/>
                </a:solidFill>
              </a:rPr>
              <a:t>$3.9M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892040" y="841248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PROFIT MARGIN
</a:t>
            </a:r>
            <a:r>
              <a:rPr lang="en-US" sz="2000" b="1" dirty="0">
                <a:solidFill>
                  <a:srgbClr val="1F2937"/>
                </a:solidFill>
              </a:rPr>
              <a:t>28.4%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086600" y="841248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4748B"/>
                </a:solidFill>
              </a:rPr>
              <a:t>AVG SATISFACTION
</a:t>
            </a:r>
            <a:r>
              <a:rPr lang="en-US" sz="2000" b="1" dirty="0">
                <a:solidFill>
                  <a:srgbClr val="1F2937"/>
                </a:solidFill>
              </a:rPr>
              <a:t>3.85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291840" cy="107899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F75B5"/>
                </a:solidFill>
              </a:rPr>
              <a:t>Revenue rose sharply
</a:t>
            </a:r>
            <a:r>
              <a:rPr lang="en-US" sz="1050" dirty="0">
                <a:solidFill>
                  <a:srgbClr val="1F2937"/>
                </a:solidFill>
              </a:rPr>
              <a:t>Revenue grew 108.7% from January to December, with the strongest regional performance in the West and South.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1965960"/>
            <a:ext cx="3291840" cy="107899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D7D31"/>
                </a:solidFill>
              </a:rPr>
              <a:t>Margin pressure is visible
</a:t>
            </a:r>
            <a:r>
              <a:rPr lang="en-US" sz="1050" dirty="0">
                <a:solidFill>
                  <a:srgbClr val="1F2937"/>
                </a:solidFill>
              </a:rPr>
              <a:t>Margin declined from 32.5% in January to 22.9% in December, even as holiday sales increased.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09560" y="1965960"/>
            <a:ext cx="3291840" cy="107899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Execution gaps remain
</a:t>
            </a:r>
            <a:r>
              <a:rPr lang="en-US" sz="1050" dirty="0">
                <a:solidFill>
                  <a:srgbClr val="1F2937"/>
                </a:solidFill>
              </a:rPr>
              <a:t>Detroit RM-12 has the lowest satisfaction at 3.25, while Seattle RM-16 leads at 4.64.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51206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Monthly Revenue Trend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85800" y="3703320"/>
          <a:ext cx="5120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6400800" y="3447288"/>
            <a:ext cx="5074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Monthly Margin Trend</a:t>
            </a:r>
            <a:endParaRPr lang="en-US" sz="115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6400800" y="3703320"/>
          <a:ext cx="50749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45720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RetailMax Analytics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Exploration: Revenue Leaders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DCEBFA"/>
                </a:solidFill>
              </a:rPr>
              <a:t>Which stores and regions generated the highest revenue?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86968"/>
            <a:ext cx="5074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Revenue by Region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143000"/>
          <a:ext cx="50749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886968"/>
            <a:ext cx="5166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Top Revenue Stores</a:t>
            </a:r>
            <a:endParaRPr lang="en-US" sz="11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263640" y="1143000"/>
          <a:ext cx="51663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3977640"/>
            <a:ext cx="4937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20" dirty="0">
                <a:solidFill>
                  <a:srgbClr val="1F2937"/>
                </a:solidFill>
              </a:rPr>
              <a:t>West generated the most revenue at $3.2M.</a:t>
            </a:r>
            <a:endParaRPr lang="en-US" sz="1420" dirty="0"/>
          </a:p>
          <a:p>
            <a:r>
              <a:rPr lang="en-US" sz="1420" dirty="0">
                <a:solidFill>
                  <a:srgbClr val="1F2937"/>
                </a:solidFill>
              </a:rPr>
              <a:t>Seattle RM-16 is the highest-revenue store at $731K.</a:t>
            </a:r>
            <a:endParaRPr lang="en-US" sz="1420" dirty="0"/>
          </a:p>
          <a:p>
            <a:r>
              <a:rPr lang="en-US" sz="1420" dirty="0">
                <a:solidFill>
                  <a:srgbClr val="1F2937"/>
                </a:solidFill>
              </a:rPr>
              <a:t>Revenue momentum is seasonal: November and December are the strongest months.</a:t>
            </a:r>
            <a:endParaRPr lang="en-US" sz="1420" dirty="0"/>
          </a:p>
        </p:txBody>
      </p:sp>
      <p:sp>
        <p:nvSpPr>
          <p:cNvPr id="10" name="Text 6"/>
          <p:cNvSpPr/>
          <p:nvPr/>
        </p:nvSpPr>
        <p:spPr>
          <a:xfrm>
            <a:off x="6446520" y="3886200"/>
            <a:ext cx="4709160" cy="1554480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Interpretation
</a:t>
            </a:r>
            <a:r>
              <a:rPr lang="en-US" sz="1050" dirty="0">
                <a:solidFill>
                  <a:srgbClr val="1F2937"/>
                </a:solidFill>
              </a:rPr>
              <a:t>RetailMax should not only chase revenue volume. High revenue is valuable, but the core issue is preserving margin during demand spikes and copying practices from high-performing stores.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RetailMax Analytics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Profitability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DCEBFA"/>
                </a:solidFill>
              </a:rPr>
              <a:t>Which categories perform best and worst?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86968"/>
            <a:ext cx="5166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Profit by Product Category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143000"/>
          <a:ext cx="5166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886968"/>
            <a:ext cx="5074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Margin by Product Category</a:t>
            </a:r>
            <a:endParaRPr lang="en-US" sz="11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55080" y="1143000"/>
          <a:ext cx="5074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49808" y="4069080"/>
            <a:ext cx="2514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</a:rPr>
              <a:t>BEST MARGIN
</a:t>
            </a:r>
            <a:r>
              <a:rPr lang="en-US" sz="2000" b="1" dirty="0">
                <a:solidFill>
                  <a:srgbClr val="1F2937"/>
                </a:solidFill>
              </a:rPr>
              <a:t>Beauty 49.9%</a:t>
            </a:r>
            <a:endParaRPr lang="en-US" sz="920" dirty="0"/>
          </a:p>
        </p:txBody>
      </p:sp>
      <p:sp>
        <p:nvSpPr>
          <p:cNvPr id="10" name="Text 6"/>
          <p:cNvSpPr/>
          <p:nvPr/>
        </p:nvSpPr>
        <p:spPr>
          <a:xfrm>
            <a:off x="3611880" y="4069080"/>
            <a:ext cx="2514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</a:rPr>
              <a:t>HIGHEST PROFIT
</a:t>
            </a:r>
            <a:r>
              <a:rPr lang="en-US" sz="2000" b="1" dirty="0">
                <a:solidFill>
                  <a:srgbClr val="1F2937"/>
                </a:solidFill>
              </a:rPr>
              <a:t>Electronics $1.1M</a:t>
            </a:r>
            <a:endParaRPr lang="en-US" sz="920" dirty="0"/>
          </a:p>
        </p:txBody>
      </p:sp>
      <p:sp>
        <p:nvSpPr>
          <p:cNvPr id="11" name="Text 7"/>
          <p:cNvSpPr/>
          <p:nvPr/>
        </p:nvSpPr>
        <p:spPr>
          <a:xfrm>
            <a:off x="6473952" y="4069080"/>
            <a:ext cx="2514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</a:rPr>
              <a:t>WORST MARGIN
</a:t>
            </a:r>
            <a:r>
              <a:rPr lang="en-US" sz="2000" b="1" dirty="0">
                <a:solidFill>
                  <a:srgbClr val="1F2937"/>
                </a:solidFill>
              </a:rPr>
              <a:t>Grocery 7.8%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9189720" y="3858768"/>
            <a:ext cx="2331720" cy="126187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D7D31"/>
                </a:solidFill>
              </a:rPr>
              <a:t>Finding
</a:t>
            </a:r>
            <a:r>
              <a:rPr lang="en-US" sz="1050" dirty="0">
                <a:solidFill>
                  <a:srgbClr val="1F2937"/>
                </a:solidFill>
              </a:rPr>
              <a:t>Grocery creates volume but very little profit. Marketing should prioritize higher-margin baskets instead of blanket discounting.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RetailMax Analytics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and Operational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DCEBFA"/>
                </a:solidFill>
              </a:rPr>
              <a:t>Satisfaction and sales-per-employee insights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86968"/>
            <a:ext cx="5166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Lowest Satisfaction Stores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143000"/>
          <a:ext cx="5166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886968"/>
            <a:ext cx="5074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Sales per Employee by Region</a:t>
            </a:r>
            <a:endParaRPr lang="en-US" sz="11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55080" y="1143000"/>
          <a:ext cx="5074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04672" y="3931920"/>
            <a:ext cx="3429000" cy="1325880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D7D31"/>
                </a:solidFill>
              </a:rPr>
              <a:t>Customer insight
</a:t>
            </a:r>
            <a:r>
              <a:rPr lang="en-US" sz="1050" dirty="0">
                <a:solidFill>
                  <a:srgbClr val="1F2937"/>
                </a:solidFill>
              </a:rPr>
              <a:t>Detroit RM-12 and Buffalo RM-04 are the clearest service improvement targets based on satisfaction scores.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434840" y="3931920"/>
            <a:ext cx="3429000" cy="1325880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Operational insight
</a:t>
            </a:r>
            <a:r>
              <a:rPr lang="en-US" sz="1050" dirty="0">
                <a:solidFill>
                  <a:srgbClr val="1F2937"/>
                </a:solidFill>
              </a:rPr>
              <a:t>Average sales per employee is $2K. Regions above this benchmark can guide process improvements.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065008" y="3931920"/>
            <a:ext cx="3429000" cy="1325880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F75B5"/>
                </a:solidFill>
              </a:rPr>
              <a:t>Action lens
</a:t>
            </a:r>
            <a:r>
              <a:rPr lang="en-US" sz="1050" dirty="0">
                <a:solidFill>
                  <a:srgbClr val="1F2937"/>
                </a:solidFill>
              </a:rPr>
              <a:t>Pair store coaching with merchandising and staffing analysis so recommendations improve both customer experience and profitability.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RetailMax Analytics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Created in Excel Workbook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DCEBFA"/>
                </a:solidFill>
              </a:rPr>
              <a:t>Required visualizations and KPI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workbook includes raw data, cleaning formulas, pivot-table-style summaries, KPI calculations, charts, dashboard, and recommendations.</a:t>
            </a:r>
            <a:endParaRPr lang="en-US" sz="1400" dirty="0"/>
          </a:p>
        </p:txBody>
      </p:sp>
      <p:pic>
        <p:nvPicPr>
          <p:cNvPr id="6" name="Image 0" descr="/mnt/data/dashboard_preview.png"/>
          <p:cNvPicPr>
            <a:picLocks noChangeAspect="1"/>
          </p:cNvPicPr>
          <p:nvPr/>
        </p:nvPicPr>
        <p:blipFill>
          <a:blip r:embed="rId3"/>
          <a:srcRect t="3709" b="3709"/>
          <a:stretch/>
        </p:blipFill>
        <p:spPr>
          <a:xfrm>
            <a:off x="594360" y="1234440"/>
            <a:ext cx="110185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RetailMax Analytics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and 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DCEBFA"/>
                </a:solidFill>
              </a:rPr>
              <a:t>Data-supported actions to improve profitability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09617"/>
            <a:ext cx="347472" cy="320040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868680"/>
            <a:ext cx="10287000" cy="94183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F75B5"/>
                </a:solidFill>
              </a:rPr>
              <a:t>Focus marketing on high-margin categories
</a:t>
            </a:r>
            <a:r>
              <a:rPr lang="en-US" sz="1050" dirty="0">
                <a:solidFill>
                  <a:srgbClr val="1F2937"/>
                </a:solidFill>
              </a:rPr>
              <a:t>Beauty margin is 49.9%; Grocery margin is only 7.8%. Prioritize higher-margin bundles and reduce broad discounting.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347472" cy="32004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10287000" cy="94183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D7D31"/>
                </a:solidFill>
              </a:rPr>
              <a:t>Investigate low-satisfaction stores
</a:t>
            </a:r>
            <a:r>
              <a:rPr lang="en-US" sz="1050" dirty="0">
                <a:solidFill>
                  <a:srgbClr val="1F2937"/>
                </a:solidFill>
              </a:rPr>
              <a:t>Detroit RM-12 scored 3.25, the lowest in the network. Audit staffing, checkout wait times, inventory issues, and service training.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511296"/>
            <a:ext cx="347472" cy="3200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337560"/>
            <a:ext cx="10287000" cy="941832"/>
          </a:xfrm>
          <a:prstGeom prst="rect">
            <a:avLst/>
          </a:prstGeom>
          <a:solidFill>
            <a:srgbClr val="F5F7FA"/>
          </a:solidFill>
          <a:ln w="1016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Protect margins during seasonal spikes
</a:t>
            </a:r>
            <a:r>
              <a:rPr lang="en-US" sz="1050" dirty="0">
                <a:solidFill>
                  <a:srgbClr val="1F2937"/>
                </a:solidFill>
              </a:rPr>
              <a:t>December had the highest revenue ($1.8M) but margin dropped to 22.9%. Use targeted promotions and vendor negotiation before peak months.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10789920" cy="685800"/>
          </a:xfrm>
          <a:prstGeom prst="rect">
            <a:avLst/>
          </a:prstGeom>
          <a:solidFill>
            <a:srgbClr val="163B5C"/>
          </a:solidFill>
          <a:ln w="127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974336"/>
            <a:ext cx="10195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Conclusion: Analytics helps RetailMax identify where growth is profitable, where costs are eroding margin, and which stores need operational support.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RetailMax Analytics | 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550</Words>
  <Application>Microsoft Macintosh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RetailMax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RetailMax Business Analytics Report</dc:title>
  <dc:subject>RetailMax Business Analytics Report</dc:subject>
  <dc:creator>Juan José Barrera</dc:creator>
  <cp:keywords/>
  <dc:description/>
  <cp:lastModifiedBy>Barrera, Juan J</cp:lastModifiedBy>
  <cp:revision>2</cp:revision>
  <dcterms:created xsi:type="dcterms:W3CDTF">2026-06-15T21:29:06Z</dcterms:created>
  <dcterms:modified xsi:type="dcterms:W3CDTF">2026-06-15T21:52:33Z</dcterms:modified>
  <cp:category/>
</cp:coreProperties>
</file>