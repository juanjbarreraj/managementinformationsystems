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41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79"/>
                </a:solidFill>
              </a:rPr>
              <a:t>FreshCart Direct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81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E86C1"/>
                </a:solidFill>
              </a:rPr>
              <a:t>Infrastructure Strategy Recommendation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08" y="208483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</a:rPr>
              <a:t>Technology consultant analysis covering cost, scalability, security, reliability, staffing, and long-term growth.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2461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3355848"/>
            <a:ext cx="453542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Recommended Strategy: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Cloud-first infrastructure on AWS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</a:rPr>
              <a:t>FreshCart Direct | Infrastructure Recommendation | 1</a:t>
            </a:r>
            <a:endParaRPr lang="en-US" sz="8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4D4BA-2035-482C-E520-9FADAA61DA7F}"/>
              </a:ext>
            </a:extLst>
          </p:cNvPr>
          <p:cNvSpPr txBox="1"/>
          <p:nvPr/>
        </p:nvSpPr>
        <p:spPr>
          <a:xfrm>
            <a:off x="731520" y="4953663"/>
            <a:ext cx="35942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By: Juan Barrera</a:t>
            </a:r>
          </a:p>
          <a:p>
            <a:r>
              <a:rPr lang="en-US" dirty="0"/>
              <a:t>Professor Jeffrey Seaman</a:t>
            </a:r>
            <a:br>
              <a:rPr lang="en-US" dirty="0"/>
            </a:br>
            <a:r>
              <a:rPr lang="en-US" dirty="0"/>
              <a:t>Management 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Situation: High Growth, Small IT Team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</a:rPr>
              <a:t>FreshCart is launching a customer-facing grocery platform across multiple U.S. cities.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014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5087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35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609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employees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93592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03320" y="15087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A825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45152" y="1609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IT employees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9944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9672" y="15087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61504" y="1609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delivery vehicles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26296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36024" y="15087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24/7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277856" y="1609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</a:rPr>
              <a:t>digital operations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3063240"/>
            <a:ext cx="96012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2816352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2926080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447288"/>
            <a:ext cx="1188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Accounts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2816352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24328" y="2926080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40280" y="3447288"/>
            <a:ext cx="1188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Orders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2816352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98848" y="2926080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3447288"/>
            <a:ext cx="1188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Payments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2816352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73368" y="2926080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89320" y="3447288"/>
            <a:ext cx="1188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Tracking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2816352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47888" y="2926080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63840" y="3447288"/>
            <a:ext cx="1362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58400" y="2816352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22408" y="2926080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38360" y="3447288"/>
            <a:ext cx="1188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Backups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0120" y="4709160"/>
            <a:ext cx="1014984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69848" y="4818888"/>
            <a:ext cx="99303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</a:rPr>
              <a:t>Main pressure: FreshCart must support demand spikes, protect payment data, and grow nationally without building a data center.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</a:rPr>
              <a:t>FreshCart Direct | Infrastructure Recommendation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Options Compared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9492" y="76054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</a:rPr>
              <a:t>Cloud provides the strongest fit across the assignment criteria.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014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73736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Criteria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325880"/>
            <a:ext cx="20116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37744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On-Premise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325880"/>
            <a:ext cx="20116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38912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325880"/>
            <a:ext cx="20116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66760" y="1325880"/>
            <a:ext cx="24688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12480" y="1463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FreshCart Fit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1828800"/>
            <a:ext cx="173736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Cost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1828800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377440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050" dirty="0"/>
              <a:t>$30K-$60K year 1</a:t>
            </a:r>
          </a:p>
        </p:txBody>
      </p:sp>
      <p:sp>
        <p:nvSpPr>
          <p:cNvPr id="19" name="Shape 17"/>
          <p:cNvSpPr/>
          <p:nvPr/>
        </p:nvSpPr>
        <p:spPr>
          <a:xfrm>
            <a:off x="4343400" y="1828800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389120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050" dirty="0"/>
              <a:t>~$382-$440/</a:t>
            </a:r>
            <a:r>
              <a:rPr sz="1050" dirty="0" err="1"/>
              <a:t>mo</a:t>
            </a:r>
            <a:r>
              <a:rPr sz="1050" dirty="0"/>
              <a:t> MVP</a:t>
            </a:r>
          </a:p>
        </p:txBody>
      </p:sp>
      <p:sp>
        <p:nvSpPr>
          <p:cNvPr id="21" name="Shape 19"/>
          <p:cNvSpPr/>
          <p:nvPr/>
        </p:nvSpPr>
        <p:spPr>
          <a:xfrm>
            <a:off x="6355080" y="1828800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0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050" dirty="0"/>
              <a:t>Cloud + hardware costs</a:t>
            </a:r>
          </a:p>
        </p:txBody>
      </p:sp>
      <p:sp>
        <p:nvSpPr>
          <p:cNvPr id="23" name="Shape 21"/>
          <p:cNvSpPr/>
          <p:nvPr/>
        </p:nvSpPr>
        <p:spPr>
          <a:xfrm>
            <a:off x="8366760" y="1828800"/>
            <a:ext cx="246888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412480" y="20299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Cloud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487168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0080" y="26883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Scalability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31720" y="2487168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377440" y="2688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Slow hardware cycle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2487168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389120" y="2688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Auto-scale fast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2487168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00800" y="2688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Good but complex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66760" y="2487168"/>
            <a:ext cx="246888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12480" y="2688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Cloud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" y="3145536"/>
            <a:ext cx="173736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" y="33467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Security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331720" y="3145536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377440" y="33467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Requires staffing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43400" y="3145536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389120" y="33467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Strong managed tools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3145536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00800" y="33467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Strong if integrated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66760" y="3145536"/>
            <a:ext cx="246888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412480" y="3346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Cloud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4360" y="3803904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0080" y="4005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Reliability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31720" y="3803904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2377440" y="40050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Needs duplicate site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343400" y="3803904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389120" y="40050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Multi-zone options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55080" y="3803904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400800" y="40050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Good, complex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366760" y="3803904"/>
            <a:ext cx="246888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8412480" y="4005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Cloud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94360" y="4462272"/>
            <a:ext cx="173736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40080" y="4663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Staffing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331720" y="4462272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237744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Heavy burden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343400" y="4462272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38912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Lowest burden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55080" y="4462272"/>
            <a:ext cx="2011680" cy="65836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640080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Specialized skills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366760" y="4462272"/>
            <a:ext cx="246888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8412480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Cloud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94360" y="5120640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640080" y="5321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Growth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331720" y="51206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2377440" y="53218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Difficult nationally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343400" y="51206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389120" y="53218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Best expansion path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355080" y="51206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6400800" y="53218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Useful later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366760" y="5120640"/>
            <a:ext cx="246888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8412480" y="5321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Cloud-first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</a:rPr>
              <a:t>FreshCart Direct | Infrastructure Recommendation | 3</a:t>
            </a:r>
            <a:endParaRPr lang="en-US" sz="850" dirty="0"/>
          </a:p>
        </p:txBody>
      </p:sp>
      <p:sp>
        <p:nvSpPr>
          <p:cNvPr id="76" name="TextBox 75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55555"/>
                </a:solidFill>
              </a:rPr>
              <a:t>AWS estimate assumes us-east-1, on-demand MVP production environment; excludes taxes, payment processor fees, and unusual traffic spikes.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Recommendation: Cloud-First Architecture on AWS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</a:rPr>
              <a:t>Start cloud now; reserve hybrid only for future warehouse or logistics needs.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014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57400" y="2788920"/>
            <a:ext cx="118872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94760" y="2788920"/>
            <a:ext cx="100584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0" y="2788920"/>
            <a:ext cx="114300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52360" y="2788920"/>
            <a:ext cx="109728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350008"/>
            <a:ext cx="12893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</a:rPr>
              <a:t>Customers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</a:rPr>
              <a:t>Web + 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63240" y="22402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E3F2FD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72968" y="2350008"/>
            <a:ext cx="96926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</a:rPr>
              <a:t>DNS / CDN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</a:rPr>
              <a:t>WAF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224028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0328" y="2350008"/>
            <a:ext cx="119786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Load Balancer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Auto Scaling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224028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39128" y="2350008"/>
            <a:ext cx="119786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</a:rPr>
              <a:t>App + API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</a:rPr>
              <a:t>Services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22402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CE4EC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67928" y="2350008"/>
            <a:ext cx="124358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Managed DB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Backups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74520" y="4251960"/>
            <a:ext cx="836676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84248" y="4361688"/>
            <a:ext cx="814730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</a:rPr>
              <a:t>Monitoring, IAM, encryption, logging, alerts, disaster recovery runbooks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Why this wins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1234440"/>
            <a:ext cx="6309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Elastic capacity, lower upfront spending, managed security/backups, and simpler operations for a 2-person IT team.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</a:rPr>
              <a:t>FreshCart Direct | Infrastructure Recommendation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Reliability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</a:rPr>
              <a:t>Customer trust depends on protecting accounts, payments, orders, and delivery tracking.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014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1F4E7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527048"/>
            <a:ext cx="302666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Security controls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8346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MFA and least-privilege IAM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Encryption in transit and at rest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WAF, DDoS protection, API controls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Tokenized payment processing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Logs, alerts, vulnerability checks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1527048"/>
            <a:ext cx="302666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Reliability controls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148840"/>
            <a:ext cx="28346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Multi-availability-zone deployment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Load balancing and auto-scaling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Managed database backups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Disaster recovery testing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RTO/RPO targets by 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9A825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93608" y="1527048"/>
            <a:ext cx="302666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Governance controls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2148840"/>
            <a:ext cx="28346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Cost budgets and alerts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Secure CI/CD deployment process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Incident response runbooks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Compliance evidence for PCI scope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Quarterly architecture reviews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4983480"/>
            <a:ext cx="9966960" cy="594360"/>
          </a:xfrm>
          <a:prstGeom prst="roundRect">
            <a:avLst>
              <a:gd name="adj" fmla="val 15385"/>
            </a:avLst>
          </a:prstGeom>
          <a:solidFill>
            <a:srgbClr val="EEF6FB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513892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Key point: Cloud security is strong only when FreshCart configures it correctly and governs it continuously.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</a:rPr>
              <a:t>FreshCart Direct | Infrastructure Recommendation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Component: Why AWS Fits FreshCart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</a:rPr>
              <a:t>AWS combines broad services, security capabilities, scalability features, and flexible pricing.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014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E86C1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618488"/>
            <a:ext cx="211226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Services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96596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EC2 / app hosting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RDS or Aurora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S3 backups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CloudFront / WAF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CloudWatch monitoring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538728" y="1618488"/>
            <a:ext cx="211226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Security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29000" y="2057400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196596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IAM access control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Encryption and KMS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Security Hub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PCI support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DDoS protection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E86C1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373368" y="1618488"/>
            <a:ext cx="211226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Scalability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196596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Auto Scaling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Load balancing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Managed databases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Serverless functions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Global infrastructure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150876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208008" y="1618488"/>
            <a:ext cx="211226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Pricing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98280" y="2057400"/>
            <a:ext cx="2331720" cy="27432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281160" y="2286000"/>
            <a:ext cx="196596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819"/>
              <a:t>MVP AWS estimate:</a:t>
            </a:r>
          </a:p>
          <a:p>
            <a:r>
              <a:rPr sz="819"/>
              <a:t>≈ $382/month normal</a:t>
            </a:r>
          </a:p>
          <a:p>
            <a:r>
              <a:rPr sz="819"/>
              <a:t>≈ $440/month w/ contingency</a:t>
            </a:r>
          </a:p>
          <a:p>
            <a:endParaRPr sz="819"/>
          </a:p>
          <a:p>
            <a:r>
              <a:rPr sz="819"/>
              <a:t>Major items:</a:t>
            </a:r>
          </a:p>
          <a:p>
            <a:r>
              <a:rPr sz="819"/>
              <a:t>Fargate $67 | ALB $22</a:t>
            </a:r>
          </a:p>
          <a:p>
            <a:r>
              <a:rPr sz="819"/>
              <a:t>RDS Multi-AZ $141</a:t>
            </a:r>
          </a:p>
          <a:p>
            <a:r>
              <a:rPr sz="819"/>
              <a:t>S3 $12 | CloudFront $26</a:t>
            </a:r>
          </a:p>
          <a:p>
            <a:r>
              <a:rPr sz="819"/>
              <a:t>WAF $18 | NAT $37</a:t>
            </a:r>
          </a:p>
          <a:p>
            <a:r>
              <a:rPr sz="819"/>
              <a:t>CloudWatch $25</a:t>
            </a:r>
          </a:p>
          <a:p>
            <a:r>
              <a:rPr sz="819"/>
              <a:t>Secrets/Route53/Support $34</a:t>
            </a:r>
          </a:p>
        </p:txBody>
      </p:sp>
      <p:sp>
        <p:nvSpPr>
          <p:cNvPr id="21" name="Text 19"/>
          <p:cNvSpPr/>
          <p:nvPr/>
        </p:nvSpPr>
        <p:spPr>
          <a:xfrm>
            <a:off x="960120" y="5349240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/>
              <a:t>AWS is selected because FreshCart can launch a secure production platform for hundreds per month instead of committing $30K-$60K+ upfront to on-premise infrastructure.</a:t>
            </a:r>
          </a:p>
        </p:txBody>
      </p:sp>
      <p:sp>
        <p:nvSpPr>
          <p:cNvPr id="22" name="Text 20"/>
          <p:cNvSpPr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</a:rPr>
              <a:t>FreshCart Direct | Infrastructure Recommendation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 and Final Decision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</a:rPr>
              <a:t>Launch fast, govern early, and scale responsibly.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014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1248" y="1709928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1847088"/>
            <a:ext cx="201168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Launch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Cloud web/mobile backend, managed database, secure payment processor, backups.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16002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30168" y="1709928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9080" y="1847088"/>
            <a:ext cx="201168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Stabilize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Auto-scaling, monitoring alerts, security testing, disaster recovery drills.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19088" y="1709928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1847088"/>
            <a:ext cx="201168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Expand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Add analytics, route optimization, multi-state operations, data governance.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16002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208008" y="1709928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46920" y="1847088"/>
            <a:ext cx="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96112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Reassess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2396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Consider hybrid only if warehouses, logistics devices, or acquisitions require 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5840" y="489204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E8F5E9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115568" y="5001768"/>
            <a:ext cx="993038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</a:rPr>
              <a:t>Final decision: choose CLOUD infrastructure now. It best balances cost, scalability, security, reliability, staffing limits, and five-year national growth.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</a:rPr>
              <a:t>FreshCart Direct | Infrastructure Recommendation | 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721</Words>
  <Application>Microsoft Macintosh PowerPoint</Application>
  <PresentationFormat>Widescreen</PresentationFormat>
  <Paragraphs>166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FreshCart Direct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FreshCart Direct Infrastructure Strategy</dc:title>
  <dc:subject>FreshCart Direct Infrastructure Recommendation</dc:subject>
  <dc:creator>OpenAI</dc:creator>
  <cp:lastModifiedBy>Barrera, Juan J</cp:lastModifiedBy>
  <cp:revision>2</cp:revision>
  <dcterms:created xsi:type="dcterms:W3CDTF">2026-05-18T19:11:05Z</dcterms:created>
  <dcterms:modified xsi:type="dcterms:W3CDTF">2026-05-18T21:10:42Z</dcterms:modified>
</cp:coreProperties>
</file>