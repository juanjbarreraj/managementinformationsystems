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256"/>
    <p:restoredTop sz="94610"/>
  </p:normalViewPr>
  <p:slideViewPr>
    <p:cSldViewPr snapToGrid="0" snapToObjects="1">
      <p:cViewPr varScale="1">
        <p:scale>
          <a:sx n="86" d="100"/>
          <a:sy n="86" d="100"/>
        </p:scale>
        <p:origin x="224" y="5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11410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4E79"/>
                </a:solidFill>
              </a:rPr>
              <a:t>FreshCart Direct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148132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2E86C1"/>
                </a:solidFill>
              </a:rPr>
              <a:t>Infrastructure Strategy Recommendation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49808" y="2084832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263238"/>
                </a:solidFill>
              </a:rPr>
              <a:t>Technology consultant analysis covering cost, scalability, security, reliability, staffing, and long-term growth.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77240" y="3246120"/>
            <a:ext cx="475488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DE6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86968" y="3355848"/>
            <a:ext cx="4535424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1F4E79"/>
                </a:solidFill>
              </a:rPr>
              <a:t>Recommended Strategy:</a:t>
            </a: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1F4E79"/>
                </a:solidFill>
              </a:rPr>
              <a:t>Cloud-first infrastructure on AWS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601200" y="6446520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8909C"/>
                </a:solidFill>
              </a:rPr>
              <a:t>FreshCart Direct | Infrastructure Recommendation | 1</a:t>
            </a:r>
            <a:endParaRPr lang="en-US" sz="8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54D4BA-2035-482C-E520-9FADAA61DA7F}"/>
              </a:ext>
            </a:extLst>
          </p:cNvPr>
          <p:cNvSpPr txBox="1"/>
          <p:nvPr/>
        </p:nvSpPr>
        <p:spPr>
          <a:xfrm>
            <a:off x="731520" y="4953663"/>
            <a:ext cx="359425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By: Juan Barrera</a:t>
            </a:r>
          </a:p>
          <a:p>
            <a:r>
              <a:rPr lang="en-US" dirty="0"/>
              <a:t>Professor Jeffrey Seaman</a:t>
            </a:r>
            <a:br>
              <a:rPr lang="en-US" dirty="0"/>
            </a:br>
            <a:r>
              <a:rPr lang="en-US" dirty="0"/>
              <a:t>Management Information Systems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4E7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Situation: High Growth, Small IT Team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75488" y="777240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B7A"/>
                </a:solidFill>
              </a:rPr>
              <a:t>FreshCart is launching a customer-facing grocery platform across multiple U.S. cities.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11201400" cy="0"/>
          </a:xfrm>
          <a:prstGeom prst="line">
            <a:avLst/>
          </a:prstGeom>
          <a:noFill/>
          <a:ln w="12700">
            <a:solidFill>
              <a:srgbClr val="B0BE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77240" y="1417320"/>
            <a:ext cx="21488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6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86968" y="1508760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4E79"/>
                </a:solidFill>
              </a:rPr>
              <a:t>35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828800" y="160934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63238"/>
                </a:solidFill>
              </a:rPr>
              <a:t>employees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593592" y="1417320"/>
            <a:ext cx="2148840" cy="914400"/>
          </a:xfrm>
          <a:prstGeom prst="roundRect">
            <a:avLst>
              <a:gd name="adj" fmla="val 8000"/>
            </a:avLst>
          </a:prstGeom>
          <a:solidFill>
            <a:srgbClr val="FFF8E1"/>
          </a:solidFill>
          <a:ln w="12700">
            <a:solidFill>
              <a:srgbClr val="DDE6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703320" y="1508760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9A825"/>
                </a:solidFill>
              </a:rPr>
              <a:t>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645152" y="160934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63238"/>
                </a:solidFill>
              </a:rPr>
              <a:t>IT employees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9944" y="1417320"/>
            <a:ext cx="21488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6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519672" y="1508760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4E79"/>
                </a:solidFill>
              </a:rPr>
              <a:t>5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7461504" y="160934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63238"/>
                </a:solidFill>
              </a:rPr>
              <a:t>delivery vehicles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226296" y="1417320"/>
            <a:ext cx="21488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6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9336024" y="1508760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4E79"/>
                </a:solidFill>
              </a:rPr>
              <a:t>24/7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0277856" y="160934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63238"/>
                </a:solidFill>
              </a:rPr>
              <a:t>digital operations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280160" y="3063240"/>
            <a:ext cx="9601200" cy="0"/>
          </a:xfrm>
          <a:prstGeom prst="line">
            <a:avLst/>
          </a:prstGeom>
          <a:noFill/>
          <a:ln w="25400">
            <a:solidFill>
              <a:srgbClr val="2E86C1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85800" y="2816352"/>
            <a:ext cx="502920" cy="502920"/>
          </a:xfrm>
          <a:prstGeom prst="ellipse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49808" y="2926080"/>
            <a:ext cx="374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65760" y="3447288"/>
            <a:ext cx="11887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63238"/>
                </a:solidFill>
              </a:rPr>
              <a:t>Accounts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60320" y="2816352"/>
            <a:ext cx="502920" cy="50292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624328" y="2926080"/>
            <a:ext cx="374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2240280" y="3447288"/>
            <a:ext cx="11887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63238"/>
                </a:solidFill>
              </a:rPr>
              <a:t>Orders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434840" y="2816352"/>
            <a:ext cx="502920" cy="502920"/>
          </a:xfrm>
          <a:prstGeom prst="ellipse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498848" y="2926080"/>
            <a:ext cx="374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114800" y="3447288"/>
            <a:ext cx="11887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63238"/>
                </a:solidFill>
              </a:rPr>
              <a:t>Payments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309360" y="2816352"/>
            <a:ext cx="502920" cy="50292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373368" y="2926080"/>
            <a:ext cx="374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989320" y="3447288"/>
            <a:ext cx="11887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63238"/>
                </a:solidFill>
              </a:rPr>
              <a:t>Tracking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83880" y="2816352"/>
            <a:ext cx="502920" cy="502920"/>
          </a:xfrm>
          <a:prstGeom prst="ellipse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8247888" y="2926080"/>
            <a:ext cx="374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863840" y="3447288"/>
            <a:ext cx="1362456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63238"/>
                </a:solidFill>
              </a:rPr>
              <a:t>Recommendations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10058400" y="2816352"/>
            <a:ext cx="502920" cy="50292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10122408" y="2926080"/>
            <a:ext cx="374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9738360" y="3447288"/>
            <a:ext cx="11887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63238"/>
                </a:solidFill>
              </a:rPr>
              <a:t>Backups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960120" y="4709160"/>
            <a:ext cx="10149840" cy="822960"/>
          </a:xfrm>
          <a:prstGeom prst="roundRect">
            <a:avLst>
              <a:gd name="adj" fmla="val 8889"/>
            </a:avLst>
          </a:prstGeom>
          <a:solidFill>
            <a:srgbClr val="E8F5E9"/>
          </a:solidFill>
          <a:ln w="12700">
            <a:solidFill>
              <a:srgbClr val="DDE6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1069848" y="4818888"/>
            <a:ext cx="9930384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63238"/>
                </a:solidFill>
              </a:rPr>
              <a:t>Main pressure: FreshCart must support demand spikes, protect payment data, and grow nationally without building a data center.</a:t>
            </a:r>
            <a:endParaRPr lang="en-US" sz="1900" dirty="0"/>
          </a:p>
        </p:txBody>
      </p:sp>
      <p:sp>
        <p:nvSpPr>
          <p:cNvPr id="38" name="Text 36"/>
          <p:cNvSpPr/>
          <p:nvPr/>
        </p:nvSpPr>
        <p:spPr>
          <a:xfrm>
            <a:off x="9601200" y="6446520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8909C"/>
                </a:solidFill>
              </a:rPr>
              <a:t>FreshCart Direct | Infrastructure Recommendation | 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4E7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Infrastructure Options Compared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09492" y="760542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B7A"/>
                </a:solidFill>
              </a:rPr>
              <a:t>Cloud provides the strongest fit across the assignment criteria.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11201400" cy="0"/>
          </a:xfrm>
          <a:prstGeom prst="line">
            <a:avLst/>
          </a:prstGeom>
          <a:noFill/>
          <a:ln w="12700">
            <a:solidFill>
              <a:srgbClr val="B0BEC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594360" y="1325880"/>
            <a:ext cx="1737360" cy="502920"/>
          </a:xfrm>
          <a:prstGeom prst="rect">
            <a:avLst/>
          </a:prstGeom>
          <a:solidFill>
            <a:srgbClr val="1F4E79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Criteria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331720" y="1325880"/>
            <a:ext cx="2011680" cy="502920"/>
          </a:xfrm>
          <a:prstGeom prst="rect">
            <a:avLst/>
          </a:prstGeom>
          <a:solidFill>
            <a:srgbClr val="1F4E79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2377440" y="146304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On-Premise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43400" y="1325880"/>
            <a:ext cx="2011680" cy="502920"/>
          </a:xfrm>
          <a:prstGeom prst="rect">
            <a:avLst/>
          </a:prstGeom>
          <a:solidFill>
            <a:srgbClr val="1F4E79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4389120" y="146304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Cloud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355080" y="1325880"/>
            <a:ext cx="2011680" cy="502920"/>
          </a:xfrm>
          <a:prstGeom prst="rect">
            <a:avLst/>
          </a:prstGeom>
          <a:solidFill>
            <a:srgbClr val="1F4E79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6400800" y="146304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Hybrid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366760" y="1325880"/>
            <a:ext cx="2468880" cy="502920"/>
          </a:xfrm>
          <a:prstGeom prst="rect">
            <a:avLst/>
          </a:prstGeom>
          <a:solidFill>
            <a:srgbClr val="1F4E79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412480" y="146304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FreshCart Fit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4360" y="1828800"/>
            <a:ext cx="1737360" cy="658368"/>
          </a:xfrm>
          <a:prstGeom prst="rect">
            <a:avLst/>
          </a:prstGeom>
          <a:solidFill>
            <a:srgbClr val="F7FAFC"/>
          </a:solidFill>
          <a:ln w="12700">
            <a:solidFill>
              <a:srgbClr val="DDE6E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640080" y="202996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263238"/>
                </a:solidFill>
              </a:rPr>
              <a:t>Cost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331720" y="1828800"/>
            <a:ext cx="2011680" cy="658368"/>
          </a:xfrm>
          <a:prstGeom prst="rect">
            <a:avLst/>
          </a:prstGeom>
          <a:solidFill>
            <a:srgbClr val="F7FAFC"/>
          </a:solidFill>
          <a:ln w="12700">
            <a:solidFill>
              <a:srgbClr val="DDE6E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2377440" y="202996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sz="1050" dirty="0"/>
              <a:t>$30K-$60K year 1</a:t>
            </a:r>
          </a:p>
        </p:txBody>
      </p:sp>
      <p:sp>
        <p:nvSpPr>
          <p:cNvPr id="19" name="Shape 17"/>
          <p:cNvSpPr/>
          <p:nvPr/>
        </p:nvSpPr>
        <p:spPr>
          <a:xfrm>
            <a:off x="4343400" y="1828800"/>
            <a:ext cx="2011680" cy="658368"/>
          </a:xfrm>
          <a:prstGeom prst="rect">
            <a:avLst/>
          </a:prstGeom>
          <a:solidFill>
            <a:srgbClr val="F7FAFC"/>
          </a:solidFill>
          <a:ln w="12700">
            <a:solidFill>
              <a:srgbClr val="DDE6E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4389120" y="202996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sz="1050" dirty="0"/>
              <a:t>~$382-$440/</a:t>
            </a:r>
            <a:r>
              <a:rPr sz="1050" dirty="0" err="1"/>
              <a:t>mo</a:t>
            </a:r>
            <a:r>
              <a:rPr sz="1050" dirty="0"/>
              <a:t> MVP</a:t>
            </a:r>
          </a:p>
        </p:txBody>
      </p:sp>
      <p:sp>
        <p:nvSpPr>
          <p:cNvPr id="21" name="Shape 19"/>
          <p:cNvSpPr/>
          <p:nvPr/>
        </p:nvSpPr>
        <p:spPr>
          <a:xfrm>
            <a:off x="6355080" y="1828800"/>
            <a:ext cx="2011680" cy="658368"/>
          </a:xfrm>
          <a:prstGeom prst="rect">
            <a:avLst/>
          </a:prstGeom>
          <a:solidFill>
            <a:srgbClr val="F7FAFC"/>
          </a:solidFill>
          <a:ln w="12700">
            <a:solidFill>
              <a:srgbClr val="DDE6E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6400800" y="202996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sz="1050" dirty="0"/>
              <a:t>Cloud + hardware costs</a:t>
            </a:r>
          </a:p>
        </p:txBody>
      </p:sp>
      <p:sp>
        <p:nvSpPr>
          <p:cNvPr id="23" name="Shape 21"/>
          <p:cNvSpPr/>
          <p:nvPr/>
        </p:nvSpPr>
        <p:spPr>
          <a:xfrm>
            <a:off x="8366760" y="1828800"/>
            <a:ext cx="2468880" cy="658368"/>
          </a:xfrm>
          <a:prstGeom prst="rect">
            <a:avLst/>
          </a:prstGeom>
          <a:solidFill>
            <a:srgbClr val="E8F5E9"/>
          </a:solidFill>
          <a:ln w="12700">
            <a:solidFill>
              <a:srgbClr val="DDE6E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8412480" y="202996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E7D32"/>
                </a:solidFill>
              </a:rPr>
              <a:t>Cloud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487168"/>
            <a:ext cx="17373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640080" y="2688336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263238"/>
                </a:solidFill>
              </a:rPr>
              <a:t>Scalability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2331720" y="2487168"/>
            <a:ext cx="2011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2377440" y="2688336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263238"/>
                </a:solidFill>
              </a:rPr>
              <a:t>Slow hardware cycle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343400" y="2487168"/>
            <a:ext cx="2011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4389120" y="2688336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263238"/>
                </a:solidFill>
              </a:rPr>
              <a:t>Auto-scale fast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355080" y="2487168"/>
            <a:ext cx="2011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6400800" y="2688336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263238"/>
                </a:solidFill>
              </a:rPr>
              <a:t>Good but complex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366760" y="2487168"/>
            <a:ext cx="2468880" cy="658368"/>
          </a:xfrm>
          <a:prstGeom prst="rect">
            <a:avLst/>
          </a:prstGeom>
          <a:solidFill>
            <a:srgbClr val="E8F5E9"/>
          </a:solidFill>
          <a:ln w="12700">
            <a:solidFill>
              <a:srgbClr val="DDE6E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8412480" y="2688336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E7D32"/>
                </a:solidFill>
              </a:rPr>
              <a:t>Cloud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94360" y="3145536"/>
            <a:ext cx="1737360" cy="658368"/>
          </a:xfrm>
          <a:prstGeom prst="rect">
            <a:avLst/>
          </a:prstGeom>
          <a:solidFill>
            <a:srgbClr val="F7FAFC"/>
          </a:solidFill>
          <a:ln w="12700">
            <a:solidFill>
              <a:srgbClr val="DDE6E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640080" y="3346704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263238"/>
                </a:solidFill>
              </a:rPr>
              <a:t>Security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2331720" y="3145536"/>
            <a:ext cx="2011680" cy="658368"/>
          </a:xfrm>
          <a:prstGeom prst="rect">
            <a:avLst/>
          </a:prstGeom>
          <a:solidFill>
            <a:srgbClr val="F7FAFC"/>
          </a:solidFill>
          <a:ln w="12700">
            <a:solidFill>
              <a:srgbClr val="DDE6E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2377440" y="3346704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263238"/>
                </a:solidFill>
              </a:rPr>
              <a:t>Requires staffing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343400" y="3145536"/>
            <a:ext cx="2011680" cy="658368"/>
          </a:xfrm>
          <a:prstGeom prst="rect">
            <a:avLst/>
          </a:prstGeom>
          <a:solidFill>
            <a:srgbClr val="F7FAFC"/>
          </a:solidFill>
          <a:ln w="12700">
            <a:solidFill>
              <a:srgbClr val="DDE6E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4389120" y="3346704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263238"/>
                </a:solidFill>
              </a:rPr>
              <a:t>Strong managed tools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355080" y="3145536"/>
            <a:ext cx="2011680" cy="658368"/>
          </a:xfrm>
          <a:prstGeom prst="rect">
            <a:avLst/>
          </a:prstGeom>
          <a:solidFill>
            <a:srgbClr val="F7FAFC"/>
          </a:solidFill>
          <a:ln w="12700">
            <a:solidFill>
              <a:srgbClr val="DDE6E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6400800" y="3346704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263238"/>
                </a:solidFill>
              </a:rPr>
              <a:t>Strong if integrated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8366760" y="3145536"/>
            <a:ext cx="2468880" cy="658368"/>
          </a:xfrm>
          <a:prstGeom prst="rect">
            <a:avLst/>
          </a:prstGeom>
          <a:solidFill>
            <a:srgbClr val="E8F5E9"/>
          </a:solidFill>
          <a:ln w="12700">
            <a:solidFill>
              <a:srgbClr val="DDE6E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8412480" y="3346704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E7D32"/>
                </a:solidFill>
              </a:rPr>
              <a:t>Cloud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594360" y="3803904"/>
            <a:ext cx="17373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44"/>
          <p:cNvSpPr/>
          <p:nvPr/>
        </p:nvSpPr>
        <p:spPr>
          <a:xfrm>
            <a:off x="640080" y="400507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263238"/>
                </a:solidFill>
              </a:rPr>
              <a:t>Reliability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2331720" y="3803904"/>
            <a:ext cx="2011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ext 46"/>
          <p:cNvSpPr/>
          <p:nvPr/>
        </p:nvSpPr>
        <p:spPr>
          <a:xfrm>
            <a:off x="2377440" y="4005072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263238"/>
                </a:solidFill>
              </a:rPr>
              <a:t>Needs duplicate site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4343400" y="3803904"/>
            <a:ext cx="2011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4389120" y="4005072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263238"/>
                </a:solidFill>
              </a:rPr>
              <a:t>Multi-zone options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355080" y="3803904"/>
            <a:ext cx="2011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Text 50"/>
          <p:cNvSpPr/>
          <p:nvPr/>
        </p:nvSpPr>
        <p:spPr>
          <a:xfrm>
            <a:off x="6400800" y="4005072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263238"/>
                </a:solidFill>
              </a:rPr>
              <a:t>Good, complex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8366760" y="3803904"/>
            <a:ext cx="2468880" cy="658368"/>
          </a:xfrm>
          <a:prstGeom prst="rect">
            <a:avLst/>
          </a:prstGeom>
          <a:solidFill>
            <a:srgbClr val="E8F5E9"/>
          </a:solidFill>
          <a:ln w="12700">
            <a:solidFill>
              <a:srgbClr val="DDE6E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Text 52"/>
          <p:cNvSpPr/>
          <p:nvPr/>
        </p:nvSpPr>
        <p:spPr>
          <a:xfrm>
            <a:off x="8412480" y="40050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E7D32"/>
                </a:solidFill>
              </a:rPr>
              <a:t>Cloud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594360" y="4462272"/>
            <a:ext cx="1737360" cy="658368"/>
          </a:xfrm>
          <a:prstGeom prst="rect">
            <a:avLst/>
          </a:prstGeom>
          <a:solidFill>
            <a:srgbClr val="F7FAFC"/>
          </a:solidFill>
          <a:ln w="12700">
            <a:solidFill>
              <a:srgbClr val="DDE6E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ext 54"/>
          <p:cNvSpPr/>
          <p:nvPr/>
        </p:nvSpPr>
        <p:spPr>
          <a:xfrm>
            <a:off x="640080" y="466344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263238"/>
                </a:solidFill>
              </a:rPr>
              <a:t>Staffing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2331720" y="4462272"/>
            <a:ext cx="2011680" cy="658368"/>
          </a:xfrm>
          <a:prstGeom prst="rect">
            <a:avLst/>
          </a:prstGeom>
          <a:solidFill>
            <a:srgbClr val="F7FAFC"/>
          </a:solidFill>
          <a:ln w="12700">
            <a:solidFill>
              <a:srgbClr val="DDE6E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Text 56"/>
          <p:cNvSpPr/>
          <p:nvPr/>
        </p:nvSpPr>
        <p:spPr>
          <a:xfrm>
            <a:off x="2377440" y="466344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263238"/>
                </a:solidFill>
              </a:rPr>
              <a:t>Heavy burden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4343400" y="4462272"/>
            <a:ext cx="2011680" cy="658368"/>
          </a:xfrm>
          <a:prstGeom prst="rect">
            <a:avLst/>
          </a:prstGeom>
          <a:solidFill>
            <a:srgbClr val="F7FAFC"/>
          </a:solidFill>
          <a:ln w="12700">
            <a:solidFill>
              <a:srgbClr val="DDE6E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8"/>
          <p:cNvSpPr/>
          <p:nvPr/>
        </p:nvSpPr>
        <p:spPr>
          <a:xfrm>
            <a:off x="4389120" y="466344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263238"/>
                </a:solidFill>
              </a:rPr>
              <a:t>Lowest burden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6355080" y="4462272"/>
            <a:ext cx="2011680" cy="658368"/>
          </a:xfrm>
          <a:prstGeom prst="rect">
            <a:avLst/>
          </a:prstGeom>
          <a:solidFill>
            <a:srgbClr val="F7FAFC"/>
          </a:solidFill>
          <a:ln w="12700">
            <a:solidFill>
              <a:srgbClr val="DDE6E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60"/>
          <p:cNvSpPr/>
          <p:nvPr/>
        </p:nvSpPr>
        <p:spPr>
          <a:xfrm>
            <a:off x="6400800" y="466344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263238"/>
                </a:solidFill>
              </a:rPr>
              <a:t>Specialized skills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8366760" y="4462272"/>
            <a:ext cx="2468880" cy="658368"/>
          </a:xfrm>
          <a:prstGeom prst="rect">
            <a:avLst/>
          </a:prstGeom>
          <a:solidFill>
            <a:srgbClr val="E8F5E9"/>
          </a:solidFill>
          <a:ln w="12700">
            <a:solidFill>
              <a:srgbClr val="DDE6E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62"/>
          <p:cNvSpPr/>
          <p:nvPr/>
        </p:nvSpPr>
        <p:spPr>
          <a:xfrm>
            <a:off x="8412480" y="466344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E7D32"/>
                </a:solidFill>
              </a:rPr>
              <a:t>Cloud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594360" y="5120640"/>
            <a:ext cx="17373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6" name="Text 64"/>
          <p:cNvSpPr/>
          <p:nvPr/>
        </p:nvSpPr>
        <p:spPr>
          <a:xfrm>
            <a:off x="640080" y="532180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263238"/>
                </a:solidFill>
              </a:rPr>
              <a:t>Growth</a:t>
            </a:r>
            <a:endParaRPr lang="en-US" sz="1050" dirty="0"/>
          </a:p>
        </p:txBody>
      </p:sp>
      <p:sp>
        <p:nvSpPr>
          <p:cNvPr id="67" name="Shape 65"/>
          <p:cNvSpPr/>
          <p:nvPr/>
        </p:nvSpPr>
        <p:spPr>
          <a:xfrm>
            <a:off x="2331720" y="5120640"/>
            <a:ext cx="2011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8" name="Text 66"/>
          <p:cNvSpPr/>
          <p:nvPr/>
        </p:nvSpPr>
        <p:spPr>
          <a:xfrm>
            <a:off x="2377440" y="532180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263238"/>
                </a:solidFill>
              </a:rPr>
              <a:t>Difficult nationally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4343400" y="5120640"/>
            <a:ext cx="2011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0" name="Text 68"/>
          <p:cNvSpPr/>
          <p:nvPr/>
        </p:nvSpPr>
        <p:spPr>
          <a:xfrm>
            <a:off x="4389120" y="532180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263238"/>
                </a:solidFill>
              </a:rPr>
              <a:t>Best expansion path</a:t>
            </a:r>
            <a:endParaRPr lang="en-US" sz="1050" dirty="0"/>
          </a:p>
        </p:txBody>
      </p:sp>
      <p:sp>
        <p:nvSpPr>
          <p:cNvPr id="71" name="Shape 69"/>
          <p:cNvSpPr/>
          <p:nvPr/>
        </p:nvSpPr>
        <p:spPr>
          <a:xfrm>
            <a:off x="6355080" y="5120640"/>
            <a:ext cx="2011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2" name="Text 70"/>
          <p:cNvSpPr/>
          <p:nvPr/>
        </p:nvSpPr>
        <p:spPr>
          <a:xfrm>
            <a:off x="6400800" y="532180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263238"/>
                </a:solidFill>
              </a:rPr>
              <a:t>Useful later</a:t>
            </a:r>
            <a:endParaRPr lang="en-US" sz="1050" dirty="0"/>
          </a:p>
        </p:txBody>
      </p:sp>
      <p:sp>
        <p:nvSpPr>
          <p:cNvPr id="73" name="Shape 71"/>
          <p:cNvSpPr/>
          <p:nvPr/>
        </p:nvSpPr>
        <p:spPr>
          <a:xfrm>
            <a:off x="8366760" y="5120640"/>
            <a:ext cx="2468880" cy="658368"/>
          </a:xfrm>
          <a:prstGeom prst="rect">
            <a:avLst/>
          </a:prstGeom>
          <a:solidFill>
            <a:srgbClr val="E8F5E9"/>
          </a:solidFill>
          <a:ln w="12700">
            <a:solidFill>
              <a:srgbClr val="DDE6E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4" name="Text 72"/>
          <p:cNvSpPr/>
          <p:nvPr/>
        </p:nvSpPr>
        <p:spPr>
          <a:xfrm>
            <a:off x="8412480" y="532180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E7D32"/>
                </a:solidFill>
              </a:rPr>
              <a:t>Cloud-first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9601200" y="6446520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8909C"/>
                </a:solidFill>
              </a:rPr>
              <a:t>FreshCart Direct | Infrastructure Recommendation | 3</a:t>
            </a:r>
            <a:endParaRPr lang="en-US" sz="850" dirty="0"/>
          </a:p>
        </p:txBody>
      </p:sp>
      <p:sp>
        <p:nvSpPr>
          <p:cNvPr id="76" name="TextBox 75"/>
          <p:cNvSpPr txBox="1"/>
          <p:nvPr/>
        </p:nvSpPr>
        <p:spPr>
          <a:xfrm>
            <a:off x="502920" y="61447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555555"/>
                </a:solidFill>
              </a:rPr>
              <a:t>AWS estimate assumes us-east-1, on-demand MVP production environment; excludes taxes, payment processor fees, and unusual traffic spikes.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4E7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Recommendation: Cloud-First Architecture on AWS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75488" y="777240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B7A"/>
                </a:solidFill>
              </a:rPr>
              <a:t>Start cloud now; reserve hybrid only for future warehouse or logistics needs.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11201400" cy="0"/>
          </a:xfrm>
          <a:prstGeom prst="line">
            <a:avLst/>
          </a:prstGeom>
          <a:noFill/>
          <a:ln w="12700">
            <a:solidFill>
              <a:srgbClr val="B0BE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057400" y="2788920"/>
            <a:ext cx="1188720" cy="0"/>
          </a:xfrm>
          <a:prstGeom prst="line">
            <a:avLst/>
          </a:prstGeom>
          <a:noFill/>
          <a:ln w="25400">
            <a:solidFill>
              <a:srgbClr val="B0BEC5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794760" y="2788920"/>
            <a:ext cx="1005840" cy="0"/>
          </a:xfrm>
          <a:prstGeom prst="line">
            <a:avLst/>
          </a:prstGeom>
          <a:noFill/>
          <a:ln w="25400">
            <a:solidFill>
              <a:srgbClr val="B0BEC5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577840" y="2788920"/>
            <a:ext cx="1143000" cy="0"/>
          </a:xfrm>
          <a:prstGeom prst="line">
            <a:avLst/>
          </a:prstGeom>
          <a:noFill/>
          <a:ln w="25400">
            <a:solidFill>
              <a:srgbClr val="B0BEC5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452360" y="2788920"/>
            <a:ext cx="1097280" cy="0"/>
          </a:xfrm>
          <a:prstGeom prst="line">
            <a:avLst/>
          </a:prstGeom>
          <a:noFill/>
          <a:ln w="25400">
            <a:solidFill>
              <a:srgbClr val="B0BEC5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40080" y="2240280"/>
            <a:ext cx="150876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DE6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49808" y="2350008"/>
            <a:ext cx="1289304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F4E79"/>
                </a:solidFill>
              </a:rPr>
              <a:t>Customers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1F4E79"/>
                </a:solidFill>
              </a:rPr>
              <a:t>Web + Mobile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063240" y="2240280"/>
            <a:ext cx="1188720" cy="1097280"/>
          </a:xfrm>
          <a:prstGeom prst="roundRect">
            <a:avLst>
              <a:gd name="adj" fmla="val 6667"/>
            </a:avLst>
          </a:prstGeom>
          <a:solidFill>
            <a:srgbClr val="E3F2FD"/>
          </a:solidFill>
          <a:ln w="12700">
            <a:solidFill>
              <a:srgbClr val="DDE6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172968" y="2350008"/>
            <a:ext cx="969264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F4E79"/>
                </a:solidFill>
              </a:rPr>
              <a:t>DNS / CDN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1F4E79"/>
                </a:solidFill>
              </a:rPr>
              <a:t>WAF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800600" y="2240280"/>
            <a:ext cx="1417320" cy="1097280"/>
          </a:xfrm>
          <a:prstGeom prst="roundRect">
            <a:avLst>
              <a:gd name="adj" fmla="val 6667"/>
            </a:avLst>
          </a:prstGeom>
          <a:solidFill>
            <a:srgbClr val="E8F5E9"/>
          </a:solidFill>
          <a:ln w="12700">
            <a:solidFill>
              <a:srgbClr val="DDE6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910328" y="2350008"/>
            <a:ext cx="1197864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2E7D32"/>
                </a:solidFill>
              </a:rPr>
              <a:t>Load Balancer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2E7D32"/>
                </a:solidFill>
              </a:rPr>
              <a:t>Auto Scaling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629400" y="2240280"/>
            <a:ext cx="1417320" cy="1097280"/>
          </a:xfrm>
          <a:prstGeom prst="roundRect">
            <a:avLst>
              <a:gd name="adj" fmla="val 6667"/>
            </a:avLst>
          </a:prstGeom>
          <a:solidFill>
            <a:srgbClr val="FFF8E1"/>
          </a:solidFill>
          <a:ln w="12700">
            <a:solidFill>
              <a:srgbClr val="DDE6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739128" y="2350008"/>
            <a:ext cx="1197864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9A825"/>
                </a:solidFill>
              </a:rPr>
              <a:t>App + API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F9A825"/>
                </a:solidFill>
              </a:rPr>
              <a:t>Services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458200" y="2240280"/>
            <a:ext cx="1463040" cy="1097280"/>
          </a:xfrm>
          <a:prstGeom prst="roundRect">
            <a:avLst>
              <a:gd name="adj" fmla="val 6667"/>
            </a:avLst>
          </a:prstGeom>
          <a:solidFill>
            <a:srgbClr val="FCE4EC"/>
          </a:solidFill>
          <a:ln w="12700">
            <a:solidFill>
              <a:srgbClr val="DDE6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567928" y="2350008"/>
            <a:ext cx="1243584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C62828"/>
                </a:solidFill>
              </a:rPr>
              <a:t>Managed DB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C62828"/>
                </a:solidFill>
              </a:rPr>
              <a:t>Backups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1874520" y="4251960"/>
            <a:ext cx="8366760" cy="685800"/>
          </a:xfrm>
          <a:prstGeom prst="roundRect">
            <a:avLst>
              <a:gd name="adj" fmla="val 10667"/>
            </a:avLst>
          </a:prstGeom>
          <a:solidFill>
            <a:srgbClr val="F3F5F7"/>
          </a:solidFill>
          <a:ln w="12700">
            <a:solidFill>
              <a:srgbClr val="DDE6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984248" y="4361688"/>
            <a:ext cx="8147304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263238"/>
                </a:solidFill>
              </a:rPr>
              <a:t>Monitoring, IAM, encryption, logging, alerts, disaster recovery runbooks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68680" y="1234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</a:rPr>
              <a:t>Why this wins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389120" y="1234440"/>
            <a:ext cx="630936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263238"/>
                </a:solidFill>
              </a:rPr>
              <a:t>Elastic capacity, lower upfront spending, managed security/backups, and simpler operations for a 2-person IT team.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601200" y="6446520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8909C"/>
                </a:solidFill>
              </a:rPr>
              <a:t>FreshCart Direct | Infrastructure Recommendation | 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4E7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Security and Reliability Plan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75488" y="777240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B7A"/>
                </a:solidFill>
              </a:rPr>
              <a:t>Customer trust depends on protecting accounts, payments, orders, and delivery tracking.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11201400" cy="0"/>
          </a:xfrm>
          <a:prstGeom prst="line">
            <a:avLst/>
          </a:prstGeom>
          <a:noFill/>
          <a:ln w="12700">
            <a:solidFill>
              <a:srgbClr val="B0BE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85800" y="1417320"/>
            <a:ext cx="3246120" cy="502920"/>
          </a:xfrm>
          <a:prstGeom prst="roundRect">
            <a:avLst>
              <a:gd name="adj" fmla="val 14545"/>
            </a:avLst>
          </a:prstGeom>
          <a:solidFill>
            <a:srgbClr val="1F4E79"/>
          </a:solidFill>
          <a:ln w="12700">
            <a:solidFill>
              <a:srgbClr val="DDE6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95528" y="1527048"/>
            <a:ext cx="3026664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Security controls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2148840"/>
            <a:ext cx="2834640" cy="2011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</a:rPr>
              <a:t>• MFA and least-privilege IAM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</a:rPr>
              <a:t>• Encryption in transit and at rest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</a:rPr>
              <a:t>• WAF, DDoS protection, API controls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</a:rPr>
              <a:t>• Tokenized payment processing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</a:rPr>
              <a:t>• Logs, alerts, vulnerability checks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34840" y="1417320"/>
            <a:ext cx="3246120" cy="502920"/>
          </a:xfrm>
          <a:prstGeom prst="roundRect">
            <a:avLst>
              <a:gd name="adj" fmla="val 14545"/>
            </a:avLst>
          </a:prstGeom>
          <a:solidFill>
            <a:srgbClr val="2E7D32"/>
          </a:solidFill>
          <a:ln w="12700">
            <a:solidFill>
              <a:srgbClr val="DDE6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44568" y="1527048"/>
            <a:ext cx="3026664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Reliability controls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617720" y="2148840"/>
            <a:ext cx="2834640" cy="2011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</a:rPr>
              <a:t>• Multi-availability-zone deployment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</a:rPr>
              <a:t>• Load balancing and auto-scaling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</a:rPr>
              <a:t>• Managed database backups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</a:rPr>
              <a:t>• Disaster recovery testing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</a:rPr>
              <a:t>• RTO/RPO targets by system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83880" y="1417320"/>
            <a:ext cx="3246120" cy="502920"/>
          </a:xfrm>
          <a:prstGeom prst="roundRect">
            <a:avLst>
              <a:gd name="adj" fmla="val 14545"/>
            </a:avLst>
          </a:prstGeom>
          <a:solidFill>
            <a:srgbClr val="F9A825"/>
          </a:solidFill>
          <a:ln w="12700">
            <a:solidFill>
              <a:srgbClr val="DDE6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293608" y="1527048"/>
            <a:ext cx="3026664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Governance controls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366760" y="2148840"/>
            <a:ext cx="2834640" cy="2011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</a:rPr>
              <a:t>• Cost budgets and alerts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</a:rPr>
              <a:t>• Secure CI/CD deployment process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</a:rPr>
              <a:t>• Incident response runbooks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</a:rPr>
              <a:t>• Compliance evidence for PCI scope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</a:rPr>
              <a:t>• Quarterly architecture reviews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51560" y="4983480"/>
            <a:ext cx="9966960" cy="594360"/>
          </a:xfrm>
          <a:prstGeom prst="roundRect">
            <a:avLst>
              <a:gd name="adj" fmla="val 15385"/>
            </a:avLst>
          </a:prstGeom>
          <a:solidFill>
            <a:srgbClr val="EEF6FB"/>
          </a:solidFill>
          <a:ln w="12700">
            <a:solidFill>
              <a:srgbClr val="DDE6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234440" y="5138928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F4E79"/>
                </a:solidFill>
              </a:rPr>
              <a:t>Key point: Cloud security is strong only when FreshCart configures it correctly and governs it continuously.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9601200" y="6446520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8909C"/>
                </a:solidFill>
              </a:rPr>
              <a:t>FreshCart Direct | Infrastructure Recommendation | 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4E7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Research Component: Why AWS Fits FreshCart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75488" y="777240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B7A"/>
                </a:solidFill>
              </a:rPr>
              <a:t>AWS combines broad services, security capabilities, scalability features, and flexible pricing.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11201400" cy="0"/>
          </a:xfrm>
          <a:prstGeom prst="line">
            <a:avLst/>
          </a:prstGeom>
          <a:noFill/>
          <a:ln w="12700">
            <a:solidFill>
              <a:srgbClr val="B0BEC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594360" y="1508760"/>
            <a:ext cx="2331720" cy="502920"/>
          </a:xfrm>
          <a:prstGeom prst="roundRect">
            <a:avLst>
              <a:gd name="adj" fmla="val 14545"/>
            </a:avLst>
          </a:prstGeom>
          <a:solidFill>
            <a:srgbClr val="2E86C1"/>
          </a:solidFill>
          <a:ln w="12700">
            <a:solidFill>
              <a:srgbClr val="DDE6E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618488"/>
            <a:ext cx="2112264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Services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94360" y="2057400"/>
            <a:ext cx="2331720" cy="274320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DE6E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77240" y="2286000"/>
            <a:ext cx="1965960" cy="2103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</a:rPr>
              <a:t>EC2 / app hosting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</a:rPr>
              <a:t>RDS or Aurora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</a:rPr>
              <a:t>S3 backups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</a:rPr>
              <a:t>CloudFront / WAF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</a:rPr>
              <a:t>CloudWatch monitoring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429000" y="1508760"/>
            <a:ext cx="2331720" cy="502920"/>
          </a:xfrm>
          <a:prstGeom prst="roundRect">
            <a:avLst>
              <a:gd name="adj" fmla="val 14545"/>
            </a:avLst>
          </a:prstGeom>
          <a:solidFill>
            <a:srgbClr val="2E7D32"/>
          </a:solidFill>
          <a:ln w="12700">
            <a:solidFill>
              <a:srgbClr val="DDE6E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3538728" y="1618488"/>
            <a:ext cx="2112264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Security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429000" y="2057400"/>
            <a:ext cx="2331720" cy="274320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DE6E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3611880" y="2286000"/>
            <a:ext cx="1965960" cy="2103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</a:rPr>
              <a:t>IAM access control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</a:rPr>
              <a:t>Encryption and KMS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</a:rPr>
              <a:t>Security Hub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</a:rPr>
              <a:t>PCI support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</a:rPr>
              <a:t>DDoS protection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63640" y="1508760"/>
            <a:ext cx="2331720" cy="502920"/>
          </a:xfrm>
          <a:prstGeom prst="roundRect">
            <a:avLst>
              <a:gd name="adj" fmla="val 14545"/>
            </a:avLst>
          </a:prstGeom>
          <a:solidFill>
            <a:srgbClr val="2E86C1"/>
          </a:solidFill>
          <a:ln w="12700">
            <a:solidFill>
              <a:srgbClr val="DDE6E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6373368" y="1618488"/>
            <a:ext cx="2112264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Scalability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263640" y="2057400"/>
            <a:ext cx="2331720" cy="274320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DE6E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6446520" y="2286000"/>
            <a:ext cx="1965960" cy="2103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</a:rPr>
              <a:t>Auto Scaling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</a:rPr>
              <a:t>Load balancing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</a:rPr>
              <a:t>Managed databases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</a:rPr>
              <a:t>Serverless functions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</a:rPr>
              <a:t>Global infrastructure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098280" y="1508760"/>
            <a:ext cx="2331720" cy="502920"/>
          </a:xfrm>
          <a:prstGeom prst="roundRect">
            <a:avLst>
              <a:gd name="adj" fmla="val 14545"/>
            </a:avLst>
          </a:prstGeom>
          <a:solidFill>
            <a:srgbClr val="2E7D32"/>
          </a:solidFill>
          <a:ln w="12700">
            <a:solidFill>
              <a:srgbClr val="DDE6E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9208008" y="1618488"/>
            <a:ext cx="2112264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Pricing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098280" y="2057400"/>
            <a:ext cx="2331720" cy="274320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DE6E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9281160" y="2286000"/>
            <a:ext cx="1965960" cy="2103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sz="819"/>
              <a:t>MVP AWS estimate:</a:t>
            </a:r>
          </a:p>
          <a:p>
            <a:r>
              <a:rPr sz="819"/>
              <a:t>≈ $382/month normal</a:t>
            </a:r>
          </a:p>
          <a:p>
            <a:r>
              <a:rPr sz="819"/>
              <a:t>≈ $440/month w/ contingency</a:t>
            </a:r>
          </a:p>
          <a:p>
            <a:endParaRPr sz="819"/>
          </a:p>
          <a:p>
            <a:r>
              <a:rPr sz="819"/>
              <a:t>Major items:</a:t>
            </a:r>
          </a:p>
          <a:p>
            <a:r>
              <a:rPr sz="819"/>
              <a:t>Fargate $67 | ALB $22</a:t>
            </a:r>
          </a:p>
          <a:p>
            <a:r>
              <a:rPr sz="819"/>
              <a:t>RDS Multi-AZ $141</a:t>
            </a:r>
          </a:p>
          <a:p>
            <a:r>
              <a:rPr sz="819"/>
              <a:t>S3 $12 | CloudFront $26</a:t>
            </a:r>
          </a:p>
          <a:p>
            <a:r>
              <a:rPr sz="819"/>
              <a:t>WAF $18 | NAT $37</a:t>
            </a:r>
          </a:p>
          <a:p>
            <a:r>
              <a:rPr sz="819"/>
              <a:t>CloudWatch $25</a:t>
            </a:r>
          </a:p>
          <a:p>
            <a:r>
              <a:rPr sz="819"/>
              <a:t>Secrets/Route53/Support $34</a:t>
            </a:r>
          </a:p>
        </p:txBody>
      </p:sp>
      <p:sp>
        <p:nvSpPr>
          <p:cNvPr id="21" name="Text 19"/>
          <p:cNvSpPr/>
          <p:nvPr/>
        </p:nvSpPr>
        <p:spPr>
          <a:xfrm>
            <a:off x="960120" y="5349240"/>
            <a:ext cx="10195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sz="1100"/>
              <a:t>AWS is selected because FreshCart can launch a secure production platform for hundreds per month instead of committing $30K-$60K+ upfront to on-premise infrastructure.</a:t>
            </a:r>
          </a:p>
        </p:txBody>
      </p:sp>
      <p:sp>
        <p:nvSpPr>
          <p:cNvPr id="22" name="Text 20"/>
          <p:cNvSpPr/>
          <p:nvPr/>
        </p:nvSpPr>
        <p:spPr>
          <a:xfrm>
            <a:off x="9601200" y="6446520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8909C"/>
                </a:solidFill>
              </a:rPr>
              <a:t>FreshCart Direct | Infrastructure Recommendation | 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4E7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Implementation Roadmap and Final Decision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75488" y="777240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B7A"/>
                </a:solidFill>
              </a:rPr>
              <a:t>Launch fast, govern early, and scale responsibly.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11201400" cy="0"/>
          </a:xfrm>
          <a:prstGeom prst="line">
            <a:avLst/>
          </a:prstGeom>
          <a:noFill/>
          <a:ln w="12700">
            <a:solidFill>
              <a:srgbClr val="B0BEC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777240" y="1600200"/>
            <a:ext cx="502920" cy="502920"/>
          </a:xfrm>
          <a:prstGeom prst="ellipse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41248" y="1709928"/>
            <a:ext cx="374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280160" y="1847088"/>
            <a:ext cx="2011680" cy="0"/>
          </a:xfrm>
          <a:prstGeom prst="line">
            <a:avLst/>
          </a:prstGeom>
          <a:noFill/>
          <a:ln w="25400">
            <a:solidFill>
              <a:srgbClr val="B0BEC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94360" y="2331720"/>
            <a:ext cx="12801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F4E79"/>
                </a:solidFill>
              </a:rPr>
              <a:t>Launch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2743200"/>
            <a:ext cx="2103120" cy="1051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263238"/>
                </a:solidFill>
              </a:rPr>
              <a:t>Cloud web/mobile backend, managed database, secure payment processor, backups.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566160" y="1600200"/>
            <a:ext cx="502920" cy="50292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3630168" y="1709928"/>
            <a:ext cx="374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069080" y="1847088"/>
            <a:ext cx="2011680" cy="0"/>
          </a:xfrm>
          <a:prstGeom prst="line">
            <a:avLst/>
          </a:prstGeom>
          <a:noFill/>
          <a:ln w="25400">
            <a:solidFill>
              <a:srgbClr val="B0BEC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3383280" y="2331720"/>
            <a:ext cx="12801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F4E79"/>
                </a:solidFill>
              </a:rPr>
              <a:t>Stabilize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246120" y="2743200"/>
            <a:ext cx="2103120" cy="1051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263238"/>
                </a:solidFill>
              </a:rPr>
              <a:t>Auto-scaling, monitoring alerts, security testing, disaster recovery drills.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55080" y="1600200"/>
            <a:ext cx="502920" cy="502920"/>
          </a:xfrm>
          <a:prstGeom prst="ellipse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6419088" y="1709928"/>
            <a:ext cx="374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858000" y="1847088"/>
            <a:ext cx="2011680" cy="0"/>
          </a:xfrm>
          <a:prstGeom prst="line">
            <a:avLst/>
          </a:prstGeom>
          <a:noFill/>
          <a:ln w="25400">
            <a:solidFill>
              <a:srgbClr val="B0BEC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172200" y="2331720"/>
            <a:ext cx="12801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F4E79"/>
                </a:solidFill>
              </a:rPr>
              <a:t>Expand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035040" y="2743200"/>
            <a:ext cx="2103120" cy="1051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263238"/>
                </a:solidFill>
              </a:rPr>
              <a:t>Add analytics, route optimization, multi-state operations, data governance.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144000" y="1600200"/>
            <a:ext cx="502920" cy="50292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9208008" y="1709928"/>
            <a:ext cx="374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9646920" y="1847088"/>
            <a:ext cx="0" cy="0"/>
          </a:xfrm>
          <a:prstGeom prst="line">
            <a:avLst/>
          </a:prstGeom>
          <a:noFill/>
          <a:ln w="25400">
            <a:solidFill>
              <a:srgbClr val="B0BEC5"/>
            </a:solidFill>
            <a:prstDash val="solid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8961120" y="2331720"/>
            <a:ext cx="12801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F4E79"/>
                </a:solidFill>
              </a:rPr>
              <a:t>Reassess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823960" y="2743200"/>
            <a:ext cx="2103120" cy="1051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263238"/>
                </a:solidFill>
              </a:rPr>
              <a:t>Consider hybrid only if warehouses, logistics devices, or acquisitions require it.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1005840" y="4892040"/>
            <a:ext cx="10149840" cy="868680"/>
          </a:xfrm>
          <a:prstGeom prst="roundRect">
            <a:avLst>
              <a:gd name="adj" fmla="val 8421"/>
            </a:avLst>
          </a:prstGeom>
          <a:solidFill>
            <a:srgbClr val="E8F5E9"/>
          </a:solidFill>
          <a:ln w="12700">
            <a:solidFill>
              <a:srgbClr val="DDE6E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1115568" y="5001768"/>
            <a:ext cx="9930384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2E7D32"/>
                </a:solidFill>
              </a:rPr>
              <a:t>Final decision: choose CLOUD infrastructure now. It best balances cost, scalability, security, reliability, staffing limits, and five-year national growth.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601200" y="6446520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8909C"/>
                </a:solidFill>
              </a:rPr>
              <a:t>FreshCart Direct | Infrastructure Recommendation | 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721</Words>
  <Application>Microsoft Macintosh PowerPoint</Application>
  <PresentationFormat>Widescreen</PresentationFormat>
  <Paragraphs>166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>FreshCart Direct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FreshCart Direct Infrastructure Strategy</dc:title>
  <dc:subject>FreshCart Direct Infrastructure Recommendation</dc:subject>
  <dc:creator>Juan Barrera</dc:creator>
  <cp:keywords/>
  <dc:description/>
  <cp:lastModifiedBy>Barrera, Juan J</cp:lastModifiedBy>
  <cp:revision>3</cp:revision>
  <dcterms:created xsi:type="dcterms:W3CDTF">2026-05-18T19:11:05Z</dcterms:created>
  <dcterms:modified xsi:type="dcterms:W3CDTF">2026-05-18T21:31:25Z</dcterms:modified>
  <cp:category/>
</cp:coreProperties>
</file>