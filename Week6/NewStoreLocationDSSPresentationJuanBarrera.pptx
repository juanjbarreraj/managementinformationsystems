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324D"/>
          </a:solidFill>
          <a:ln w="9525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7863840" cy="1325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4000" b="1">
                <a:solidFill>
                  <a:srgbClr val="17324D"/>
                </a:solidFill>
                <a:latin typeface="Aptos Display"/>
              </a:rPr>
              <a:t>Using Decision Support Systems
to Make a Business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71800"/>
            <a:ext cx="59436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800" b="1">
                <a:solidFill>
                  <a:srgbClr val="2B6CB0"/>
                </a:solidFill>
                <a:latin typeface="Aptos"/>
              </a:rPr>
              <a:t>Scenario: New Store Location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364992"/>
            <a:ext cx="3749039" cy="510909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300" b="0" dirty="0">
                <a:solidFill>
                  <a:srgbClr val="4A5568"/>
                </a:solidFill>
                <a:latin typeface="Aptos"/>
              </a:rPr>
              <a:t>Prepared by Juan Barrera</a:t>
            </a:r>
            <a:endParaRPr lang="en-US" sz="1300" b="0" dirty="0">
              <a:solidFill>
                <a:srgbClr val="4A5568"/>
              </a:solidFill>
              <a:latin typeface="Aptos"/>
            </a:endParaRPr>
          </a:p>
          <a:p>
            <a:pPr algn="l"/>
            <a:r>
              <a:rPr lang="en-US" sz="1300" dirty="0">
                <a:solidFill>
                  <a:srgbClr val="4A5568"/>
                </a:solidFill>
                <a:latin typeface="Aptos"/>
              </a:rPr>
              <a:t>Professor Jeffrey Seaman</a:t>
            </a:r>
            <a:endParaRPr sz="1300" b="0" dirty="0">
              <a:solidFill>
                <a:srgbClr val="4A5568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13232" y="4800600"/>
            <a:ext cx="25146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4800600"/>
            <a:ext cx="73152" cy="868680"/>
          </a:xfrm>
          <a:prstGeom prst="rect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4873752"/>
            <a:ext cx="2258568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Aptos"/>
              </a:rPr>
              <a:t>Decision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5093208"/>
            <a:ext cx="2258568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800" b="1">
                <a:solidFill>
                  <a:srgbClr val="1A202C"/>
                </a:solidFill>
                <a:latin typeface="Aptos"/>
              </a:rPr>
              <a:t>SouthSide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5413248"/>
            <a:ext cx="2258568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850" b="0">
                <a:solidFill>
                  <a:srgbClr val="718096"/>
                </a:solidFill>
                <a:latin typeface="Aptos"/>
              </a:rPr>
              <a:t>highest NPV +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3008" y="4800600"/>
            <a:ext cx="25146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93008" y="4800600"/>
            <a:ext cx="73152" cy="868680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4873752"/>
            <a:ext cx="2258568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Aptos"/>
              </a:rPr>
              <a:t>3-year NPV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093208"/>
            <a:ext cx="2258568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800" b="1">
                <a:solidFill>
                  <a:srgbClr val="1A202C"/>
                </a:solidFill>
                <a:latin typeface="Aptos"/>
              </a:rPr>
              <a:t>$213K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413248"/>
            <a:ext cx="2258568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850" b="0">
                <a:solidFill>
                  <a:srgbClr val="718096"/>
                </a:solidFill>
                <a:latin typeface="Aptos"/>
              </a:rPr>
              <a:t>expected case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4800600"/>
            <a:ext cx="25146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72784" y="4800600"/>
            <a:ext cx="73152" cy="868680"/>
          </a:xfrm>
          <a:prstGeom prst="rect">
            <a:avLst/>
          </a:prstGeom>
          <a:solidFill>
            <a:srgbClr val="D69E2E"/>
          </a:solidFill>
          <a:ln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37376" y="4873752"/>
            <a:ext cx="2258568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Aptos"/>
              </a:rPr>
              <a:t>Risk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5093208"/>
            <a:ext cx="2258568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800" b="1">
                <a:solidFill>
                  <a:srgbClr val="1A202C"/>
                </a:solidFill>
                <a:latin typeface="Aptos"/>
              </a:rPr>
              <a:t>3 scenarios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5413248"/>
            <a:ext cx="2258568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850" b="0">
                <a:solidFill>
                  <a:srgbClr val="718096"/>
                </a:solidFill>
                <a:latin typeface="Aptos"/>
              </a:rPr>
              <a:t>best / expected / worst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750" b="0">
                <a:solidFill>
                  <a:srgbClr val="718096"/>
                </a:solidFill>
                <a:latin typeface="Aptos"/>
              </a:rPr>
              <a:t>Decision Support Systems Assignment | New Store Location Selection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27432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800" b="0">
                <a:solidFill>
                  <a:srgbClr val="718096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95360" cy="4297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2900" b="1">
                <a:solidFill>
                  <a:srgbClr val="17324D"/>
                </a:solidFill>
                <a:latin typeface="Aptos Display"/>
              </a:rPr>
              <a:t>Part 1: Decision Problem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50976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Aptos"/>
              </a:rPr>
              <a:t>Management must choose the location with the best return and acceptable risk.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CBD5E0"/>
          </a:solidFill>
          <a:ln w="1016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2377440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800" b="1">
                <a:solidFill>
                  <a:srgbClr val="17324D"/>
                </a:solidFill>
                <a:latin typeface="Aptos"/>
              </a:rPr>
              <a:t>Business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4160520" cy="9601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600" b="0">
                <a:solidFill>
                  <a:srgbClr val="1A202C"/>
                </a:solidFill>
                <a:latin typeface="Aptos"/>
              </a:rPr>
              <a:t>Select one new store site from three alternatives while balancing demand potential, fixed costs, competition, and profitability.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2377440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800" b="1">
                <a:solidFill>
                  <a:srgbClr val="17324D"/>
                </a:solidFill>
                <a:latin typeface="Aptos"/>
              </a:rPr>
              <a:t>Stakeholders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310128"/>
            <a:ext cx="1417320" cy="347472"/>
          </a:xfrm>
          <a:prstGeom prst="rect">
            <a:avLst/>
          </a:prstGeom>
          <a:solidFill>
            <a:srgbClr val="17324D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3328416"/>
            <a:ext cx="1362456" cy="31089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Aptos"/>
              </a:rPr>
              <a:t>Group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3310128"/>
            <a:ext cx="3566160" cy="347472"/>
          </a:xfrm>
          <a:prstGeom prst="rect">
            <a:avLst/>
          </a:prstGeom>
          <a:solidFill>
            <a:srgbClr val="17324D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39112" y="3328416"/>
            <a:ext cx="3511296" cy="31089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Decision need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657600"/>
            <a:ext cx="1417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3675887"/>
            <a:ext cx="1362456" cy="31089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919" b="0">
                <a:solidFill>
                  <a:srgbClr val="1A202C"/>
                </a:solidFill>
                <a:latin typeface="Aptos"/>
              </a:rPr>
              <a:t>Executives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3657600"/>
            <a:ext cx="3566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39112" y="3675887"/>
            <a:ext cx="3511296" cy="31089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919" b="0">
                <a:solidFill>
                  <a:srgbClr val="1A202C"/>
                </a:solidFill>
                <a:latin typeface="Aptos"/>
              </a:rPr>
              <a:t>Growth and strategic fit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005072"/>
            <a:ext cx="1417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4023359"/>
            <a:ext cx="1362456" cy="31089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919" b="0">
                <a:solidFill>
                  <a:srgbClr val="1A202C"/>
                </a:solidFill>
                <a:latin typeface="Aptos"/>
              </a:rPr>
              <a:t>Finance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4005072"/>
            <a:ext cx="3566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39112" y="4023359"/>
            <a:ext cx="3511296" cy="31089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919" b="0">
                <a:solidFill>
                  <a:srgbClr val="1A202C"/>
                </a:solidFill>
                <a:latin typeface="Aptos"/>
              </a:rPr>
              <a:t>Positive ROI and NPV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352544"/>
            <a:ext cx="1417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4370831"/>
            <a:ext cx="1362456" cy="31089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919" b="0">
                <a:solidFill>
                  <a:srgbClr val="1A202C"/>
                </a:solidFill>
                <a:latin typeface="Aptos"/>
              </a:rPr>
              <a:t>Operations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4352544"/>
            <a:ext cx="3566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39112" y="4370831"/>
            <a:ext cx="3511296" cy="31089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919" b="0">
                <a:solidFill>
                  <a:srgbClr val="1A202C"/>
                </a:solidFill>
                <a:latin typeface="Aptos"/>
              </a:rPr>
              <a:t>Efficient staffing and launch readiness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700016"/>
            <a:ext cx="1417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" y="4718304"/>
            <a:ext cx="1362456" cy="31089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919" b="0">
                <a:solidFill>
                  <a:srgbClr val="1A202C"/>
                </a:solidFill>
                <a:latin typeface="Aptos"/>
              </a:rPr>
              <a:t>Marketing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4700016"/>
            <a:ext cx="3566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39112" y="4718304"/>
            <a:ext cx="3511296" cy="31089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919" b="0">
                <a:solidFill>
                  <a:srgbClr val="1A202C"/>
                </a:solidFill>
                <a:latin typeface="Aptos"/>
              </a:rPr>
              <a:t>Visible market and acquisition potential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5047488"/>
            <a:ext cx="1417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" y="5065775"/>
            <a:ext cx="1362456" cy="31089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919" b="0">
                <a:solidFill>
                  <a:srgbClr val="1A202C"/>
                </a:solidFill>
                <a:latin typeface="Aptos"/>
              </a:rPr>
              <a:t>Customers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0" y="5047488"/>
            <a:ext cx="3566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039112" y="5065775"/>
            <a:ext cx="3511296" cy="31089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919" b="0">
                <a:solidFill>
                  <a:srgbClr val="1A202C"/>
                </a:solidFill>
                <a:latin typeface="Aptos"/>
              </a:rPr>
              <a:t>Convenient access and service 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1325880"/>
            <a:ext cx="2377440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800" b="1">
                <a:solidFill>
                  <a:srgbClr val="17324D"/>
                </a:solidFill>
                <a:latin typeface="Aptos"/>
              </a:rPr>
              <a:t>Why it matters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15000" y="1700784"/>
            <a:ext cx="5440680" cy="1143000"/>
          </a:xfrm>
          <a:prstGeom prst="roundRect">
            <a:avLst/>
          </a:prstGeom>
          <a:solidFill>
            <a:srgbClr val="EBF8FF"/>
          </a:solidFill>
          <a:ln w="9525">
            <a:solidFill>
              <a:srgbClr val="BE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25312" y="1865376"/>
            <a:ext cx="4956048" cy="786384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520" b="0">
                <a:solidFill>
                  <a:srgbClr val="1A202C"/>
                </a:solidFill>
                <a:latin typeface="Aptos"/>
              </a:rPr>
              <a:t>A location decision locks in rent, staffing, opening cost, and brand exposure for multiple years. The wrong choice can create permanent fixed-cost pressure.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3154680"/>
            <a:ext cx="5120640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800" b="1">
                <a:solidFill>
                  <a:srgbClr val="17324D"/>
                </a:solidFill>
                <a:latin typeface="Aptos"/>
              </a:rPr>
              <a:t>Variables included in the DSS model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0" y="3547872"/>
            <a:ext cx="2148840" cy="27432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806440" y="3575303"/>
            <a:ext cx="192024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70" b="1">
                <a:solidFill>
                  <a:srgbClr val="1A202C"/>
                </a:solidFill>
                <a:latin typeface="Aptos"/>
              </a:rPr>
              <a:t>Rent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3547872"/>
            <a:ext cx="2148840" cy="274320"/>
          </a:xfrm>
          <a:prstGeom prst="roundRect">
            <a:avLst/>
          </a:prstGeom>
          <a:solidFill>
            <a:srgbClr val="F0FFF4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21040" y="3575303"/>
            <a:ext cx="192024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70" b="1">
                <a:solidFill>
                  <a:srgbClr val="1A202C"/>
                </a:solidFill>
                <a:latin typeface="Aptos"/>
              </a:rPr>
              <a:t>Population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15000" y="3968496"/>
            <a:ext cx="2148840" cy="27432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06440" y="3995928"/>
            <a:ext cx="192024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70" b="1">
                <a:solidFill>
                  <a:srgbClr val="1A202C"/>
                </a:solidFill>
                <a:latin typeface="Aptos"/>
              </a:rPr>
              <a:t>Traffic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3968496"/>
            <a:ext cx="2148840" cy="274320"/>
          </a:xfrm>
          <a:prstGeom prst="roundRect">
            <a:avLst/>
          </a:prstGeom>
          <a:solidFill>
            <a:srgbClr val="F0FFF4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21040" y="3995928"/>
            <a:ext cx="192024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70" b="1">
                <a:solidFill>
                  <a:srgbClr val="1A202C"/>
                </a:solidFill>
                <a:latin typeface="Aptos"/>
              </a:rPr>
              <a:t>Competition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15000" y="4389120"/>
            <a:ext cx="2148840" cy="27432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806440" y="4416552"/>
            <a:ext cx="192024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70" b="1">
                <a:solidFill>
                  <a:srgbClr val="1A202C"/>
                </a:solidFill>
                <a:latin typeface="Aptos"/>
              </a:rPr>
              <a:t>Opening cost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0" y="4389120"/>
            <a:ext cx="2148840" cy="274320"/>
          </a:xfrm>
          <a:prstGeom prst="roundRect">
            <a:avLst/>
          </a:prstGeom>
          <a:solidFill>
            <a:srgbClr val="F0FFF4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21040" y="4416552"/>
            <a:ext cx="192024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70" b="1">
                <a:solidFill>
                  <a:srgbClr val="1A202C"/>
                </a:solidFill>
                <a:latin typeface="Aptos"/>
              </a:rPr>
              <a:t>Avg ticket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15000" y="4809744"/>
            <a:ext cx="2148840" cy="27432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806440" y="4837176"/>
            <a:ext cx="192024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70" b="1">
                <a:solidFill>
                  <a:srgbClr val="1A202C"/>
                </a:solidFill>
                <a:latin typeface="Aptos"/>
              </a:rPr>
              <a:t>Gross margin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29600" y="4809744"/>
            <a:ext cx="2148840" cy="274320"/>
          </a:xfrm>
          <a:prstGeom prst="roundRect">
            <a:avLst/>
          </a:prstGeom>
          <a:solidFill>
            <a:srgbClr val="F0FFF4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21040" y="4837176"/>
            <a:ext cx="192024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70" b="1">
                <a:solidFill>
                  <a:srgbClr val="1A202C"/>
                </a:solidFill>
                <a:latin typeface="Aptos"/>
              </a:rPr>
              <a:t>Conversion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15000" y="5230368"/>
            <a:ext cx="2148840" cy="27432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806440" y="5257800"/>
            <a:ext cx="192024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70" b="1">
                <a:solidFill>
                  <a:srgbClr val="1A202C"/>
                </a:solidFill>
                <a:latin typeface="Aptos"/>
              </a:rPr>
              <a:t>Staffing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29600" y="5230368"/>
            <a:ext cx="2148840" cy="274320"/>
          </a:xfrm>
          <a:prstGeom prst="roundRect">
            <a:avLst/>
          </a:prstGeom>
          <a:solidFill>
            <a:srgbClr val="F0FFF4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321040" y="5257800"/>
            <a:ext cx="192024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70" b="1">
                <a:solidFill>
                  <a:srgbClr val="1A202C"/>
                </a:solidFill>
                <a:latin typeface="Aptos"/>
              </a:rPr>
              <a:t>Marketing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750" b="0">
                <a:solidFill>
                  <a:srgbClr val="718096"/>
                </a:solidFill>
                <a:latin typeface="Aptos"/>
              </a:rPr>
              <a:t>Decision Support Systems Assignment | New Store Location Selection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75720" y="6510528"/>
            <a:ext cx="27432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800" b="0">
                <a:solidFill>
                  <a:srgbClr val="71809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95360" cy="4297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2900" b="1">
                <a:solidFill>
                  <a:srgbClr val="17324D"/>
                </a:solidFill>
                <a:latin typeface="Aptos Display"/>
              </a:rPr>
              <a:t>Part 2: Data Analysis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50976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Aptos"/>
              </a:rPr>
              <a:t>The workbook turns market assumptions into expected profit, NPV, and a weighted score.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CBD5E0"/>
          </a:solidFill>
          <a:ln w="1016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417320" cy="365760"/>
          </a:xfrm>
          <a:prstGeom prst="rect">
            <a:avLst/>
          </a:prstGeom>
          <a:solidFill>
            <a:srgbClr val="17324D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316736"/>
            <a:ext cx="1362456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Location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298448"/>
            <a:ext cx="713232" cy="365760"/>
          </a:xfrm>
          <a:prstGeom prst="rect">
            <a:avLst/>
          </a:prstGeom>
          <a:solidFill>
            <a:srgbClr val="17324D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47672" y="1316736"/>
            <a:ext cx="658368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3472" y="1298448"/>
            <a:ext cx="713232" cy="365760"/>
          </a:xfrm>
          <a:prstGeom prst="rect">
            <a:avLst/>
          </a:prstGeom>
          <a:solidFill>
            <a:srgbClr val="17324D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60903" y="1316736"/>
            <a:ext cx="658368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Traffic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6704" y="1298448"/>
            <a:ext cx="475488" cy="365760"/>
          </a:xfrm>
          <a:prstGeom prst="rect">
            <a:avLst/>
          </a:prstGeom>
          <a:solidFill>
            <a:srgbClr val="17324D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74136" y="1316736"/>
            <a:ext cx="420624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Comp.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22191" y="1298448"/>
            <a:ext cx="841248" cy="365760"/>
          </a:xfrm>
          <a:prstGeom prst="rect">
            <a:avLst/>
          </a:prstGeom>
          <a:solidFill>
            <a:srgbClr val="17324D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9624" y="1316736"/>
            <a:ext cx="786384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Revenue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298448"/>
            <a:ext cx="960120" cy="365760"/>
          </a:xfrm>
          <a:prstGeom prst="rect">
            <a:avLst/>
          </a:prstGeom>
          <a:solidFill>
            <a:srgbClr val="17324D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90872" y="1316736"/>
            <a:ext cx="905256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Monthly Profit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23559" y="1298448"/>
            <a:ext cx="960120" cy="365760"/>
          </a:xfrm>
          <a:prstGeom prst="rect">
            <a:avLst/>
          </a:prstGeom>
          <a:solidFill>
            <a:srgbClr val="17324D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50992" y="1316736"/>
            <a:ext cx="905256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3-Year NPV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79" y="1298448"/>
            <a:ext cx="475488" cy="365760"/>
          </a:xfrm>
          <a:prstGeom prst="rect">
            <a:avLst/>
          </a:prstGeom>
          <a:solidFill>
            <a:srgbClr val="17324D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316736"/>
            <a:ext cx="420624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1664207"/>
            <a:ext cx="1417320" cy="365760"/>
          </a:xfrm>
          <a:prstGeom prst="rect">
            <a:avLst/>
          </a:prstGeom>
          <a:solidFill>
            <a:srgbClr val="FFF5F5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1682495"/>
            <a:ext cx="1362456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800" b="0">
                <a:solidFill>
                  <a:srgbClr val="1A202C"/>
                </a:solidFill>
                <a:latin typeface="Aptos"/>
              </a:rPr>
              <a:t>Downtown/CBD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1664207"/>
            <a:ext cx="713232" cy="365760"/>
          </a:xfrm>
          <a:prstGeom prst="rect">
            <a:avLst/>
          </a:prstGeom>
          <a:solidFill>
            <a:srgbClr val="FFF5F5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947672" y="1682495"/>
            <a:ext cx="658368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0">
                <a:solidFill>
                  <a:srgbClr val="1A202C"/>
                </a:solidFill>
                <a:latin typeface="Aptos"/>
              </a:rPr>
              <a:t>$18,000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33472" y="1664207"/>
            <a:ext cx="713232" cy="365760"/>
          </a:xfrm>
          <a:prstGeom prst="rect">
            <a:avLst/>
          </a:prstGeom>
          <a:solidFill>
            <a:srgbClr val="FFF5F5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660903" y="1682495"/>
            <a:ext cx="658368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0">
                <a:solidFill>
                  <a:srgbClr val="1A202C"/>
                </a:solidFill>
                <a:latin typeface="Aptos"/>
              </a:rPr>
              <a:t>23,000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46704" y="1664207"/>
            <a:ext cx="475488" cy="365760"/>
          </a:xfrm>
          <a:prstGeom prst="rect">
            <a:avLst/>
          </a:prstGeom>
          <a:solidFill>
            <a:srgbClr val="FFF5F5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74136" y="1682495"/>
            <a:ext cx="420624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0">
                <a:solidFill>
                  <a:srgbClr val="1A202C"/>
                </a:solidFill>
                <a:latin typeface="Aptos"/>
              </a:rPr>
              <a:t>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22191" y="1664207"/>
            <a:ext cx="841248" cy="365760"/>
          </a:xfrm>
          <a:prstGeom prst="rect">
            <a:avLst/>
          </a:prstGeom>
          <a:solidFill>
            <a:srgbClr val="FFF5F5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49624" y="1682495"/>
            <a:ext cx="786384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0">
                <a:solidFill>
                  <a:srgbClr val="1A202C"/>
                </a:solidFill>
                <a:latin typeface="Aptos"/>
              </a:rPr>
              <a:t>$120,837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1664207"/>
            <a:ext cx="960120" cy="365760"/>
          </a:xfrm>
          <a:prstGeom prst="rect">
            <a:avLst/>
          </a:prstGeom>
          <a:solidFill>
            <a:srgbClr val="FFF5F5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90872" y="1682495"/>
            <a:ext cx="905256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0">
                <a:solidFill>
                  <a:srgbClr val="1A202C"/>
                </a:solidFill>
                <a:latin typeface="Aptos"/>
              </a:rPr>
              <a:t>-$8,414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23559" y="1664207"/>
            <a:ext cx="960120" cy="365760"/>
          </a:xfrm>
          <a:prstGeom prst="rect">
            <a:avLst/>
          </a:prstGeom>
          <a:solidFill>
            <a:srgbClr val="FFF5F5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50992" y="1682495"/>
            <a:ext cx="905256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0">
                <a:solidFill>
                  <a:srgbClr val="1A202C"/>
                </a:solidFill>
                <a:latin typeface="Aptos"/>
              </a:rPr>
              <a:t>-$471,105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79" y="1664207"/>
            <a:ext cx="475488" cy="365760"/>
          </a:xfrm>
          <a:prstGeom prst="rect">
            <a:avLst/>
          </a:prstGeom>
          <a:solidFill>
            <a:srgbClr val="FFF5F5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11112" y="1682495"/>
            <a:ext cx="420624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0">
                <a:solidFill>
                  <a:srgbClr val="1A202C"/>
                </a:solidFill>
                <a:latin typeface="Aptos"/>
              </a:rPr>
              <a:t>37.2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2029967"/>
            <a:ext cx="14173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0352" y="2048255"/>
            <a:ext cx="1362456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800" b="0">
                <a:solidFill>
                  <a:srgbClr val="1A202C"/>
                </a:solidFill>
                <a:latin typeface="Aptos"/>
              </a:rPr>
              <a:t>Oakland/University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2029967"/>
            <a:ext cx="71323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947672" y="2048255"/>
            <a:ext cx="658368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0">
                <a:solidFill>
                  <a:srgbClr val="1A202C"/>
                </a:solidFill>
                <a:latin typeface="Aptos"/>
              </a:rPr>
              <a:t>$13,500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33472" y="2029967"/>
            <a:ext cx="71323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660903" y="2048255"/>
            <a:ext cx="658368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0">
                <a:solidFill>
                  <a:srgbClr val="1A202C"/>
                </a:solidFill>
                <a:latin typeface="Aptos"/>
              </a:rPr>
              <a:t>18,000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46704" y="2029967"/>
            <a:ext cx="47548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74136" y="2048255"/>
            <a:ext cx="420624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0">
                <a:solidFill>
                  <a:srgbClr val="1A202C"/>
                </a:solidFill>
                <a:latin typeface="Aptos"/>
              </a:rPr>
              <a:t>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22191" y="2029967"/>
            <a:ext cx="84124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849624" y="2048255"/>
            <a:ext cx="786384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0">
                <a:solidFill>
                  <a:srgbClr val="1A202C"/>
                </a:solidFill>
                <a:latin typeface="Aptos"/>
              </a:rPr>
              <a:t>$116,184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63440" y="2029967"/>
            <a:ext cx="9601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690872" y="2048255"/>
            <a:ext cx="905256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0">
                <a:solidFill>
                  <a:srgbClr val="1A202C"/>
                </a:solidFill>
                <a:latin typeface="Aptos"/>
              </a:rPr>
              <a:t>$5,210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23559" y="2029967"/>
            <a:ext cx="9601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650992" y="2048255"/>
            <a:ext cx="905256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0">
                <a:solidFill>
                  <a:srgbClr val="1A202C"/>
                </a:solidFill>
                <a:latin typeface="Aptos"/>
              </a:rPr>
              <a:t>-$29,514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79" y="2029967"/>
            <a:ext cx="47548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11112" y="2048255"/>
            <a:ext cx="420624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0">
                <a:solidFill>
                  <a:srgbClr val="1A202C"/>
                </a:solidFill>
                <a:latin typeface="Aptos"/>
              </a:rPr>
              <a:t>49.6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2395728"/>
            <a:ext cx="1417320" cy="365760"/>
          </a:xfrm>
          <a:prstGeom prst="rect">
            <a:avLst/>
          </a:prstGeom>
          <a:solidFill>
            <a:srgbClr val="F0FFF4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30352" y="2414016"/>
            <a:ext cx="1362456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800" b="0">
                <a:solidFill>
                  <a:srgbClr val="1A202C"/>
                </a:solidFill>
                <a:latin typeface="Aptos"/>
              </a:rPr>
              <a:t>SouthSide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20240" y="2395728"/>
            <a:ext cx="713232" cy="365760"/>
          </a:xfrm>
          <a:prstGeom prst="rect">
            <a:avLst/>
          </a:prstGeom>
          <a:solidFill>
            <a:srgbClr val="F0FFF4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947672" y="2414016"/>
            <a:ext cx="658368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0">
                <a:solidFill>
                  <a:srgbClr val="1A202C"/>
                </a:solidFill>
                <a:latin typeface="Aptos"/>
              </a:rPr>
              <a:t>$11,500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33472" y="2395728"/>
            <a:ext cx="713232" cy="365760"/>
          </a:xfrm>
          <a:prstGeom prst="rect">
            <a:avLst/>
          </a:prstGeom>
          <a:solidFill>
            <a:srgbClr val="F0FFF4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660903" y="2414016"/>
            <a:ext cx="658368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0">
                <a:solidFill>
                  <a:srgbClr val="1A202C"/>
                </a:solidFill>
                <a:latin typeface="Aptos"/>
              </a:rPr>
              <a:t>21,000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46704" y="2395728"/>
            <a:ext cx="475488" cy="365760"/>
          </a:xfrm>
          <a:prstGeom prst="rect">
            <a:avLst/>
          </a:prstGeom>
          <a:solidFill>
            <a:srgbClr val="F0FFF4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374136" y="2414016"/>
            <a:ext cx="420624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0">
                <a:solidFill>
                  <a:srgbClr val="1A202C"/>
                </a:solidFill>
                <a:latin typeface="Aptos"/>
              </a:rPr>
              <a:t>10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22191" y="2395728"/>
            <a:ext cx="841248" cy="365760"/>
          </a:xfrm>
          <a:prstGeom prst="rect">
            <a:avLst/>
          </a:prstGeom>
          <a:solidFill>
            <a:srgbClr val="F0FFF4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849624" y="2414016"/>
            <a:ext cx="786384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0">
                <a:solidFill>
                  <a:srgbClr val="1A202C"/>
                </a:solidFill>
                <a:latin typeface="Aptos"/>
              </a:rPr>
              <a:t>$120,923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63440" y="2395728"/>
            <a:ext cx="960120" cy="365760"/>
          </a:xfrm>
          <a:prstGeom prst="rect">
            <a:avLst/>
          </a:prstGeom>
          <a:solidFill>
            <a:srgbClr val="F0FFF4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690872" y="2414016"/>
            <a:ext cx="905256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0">
                <a:solidFill>
                  <a:srgbClr val="1A202C"/>
                </a:solidFill>
                <a:latin typeface="Aptos"/>
              </a:rPr>
              <a:t>$12,844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23559" y="2395728"/>
            <a:ext cx="960120" cy="365760"/>
          </a:xfrm>
          <a:prstGeom prst="rect">
            <a:avLst/>
          </a:prstGeom>
          <a:solidFill>
            <a:srgbClr val="F0FFF4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650992" y="2414016"/>
            <a:ext cx="905256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0">
                <a:solidFill>
                  <a:srgbClr val="1A202C"/>
                </a:solidFill>
                <a:latin typeface="Aptos"/>
              </a:rPr>
              <a:t>$213,302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79" y="2395728"/>
            <a:ext cx="475488" cy="365760"/>
          </a:xfrm>
          <a:prstGeom prst="rect">
            <a:avLst/>
          </a:prstGeom>
          <a:solidFill>
            <a:srgbClr val="F0FFF4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611112" y="2414016"/>
            <a:ext cx="420624" cy="329184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00" b="0">
                <a:solidFill>
                  <a:srgbClr val="1A202C"/>
                </a:solidFill>
                <a:latin typeface="Aptos"/>
              </a:rPr>
              <a:t>79.0</a:t>
            </a:r>
          </a:p>
        </p:txBody>
      </p:sp>
      <p:pic>
        <p:nvPicPr>
          <p:cNvPr id="69" name="Picture 68" descr="npv_by_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512" y="1143000"/>
            <a:ext cx="3977639" cy="25146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85800" y="3429000"/>
            <a:ext cx="2057400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800" b="1">
                <a:solidFill>
                  <a:srgbClr val="17324D"/>
                </a:solidFill>
                <a:latin typeface="Aptos"/>
              </a:rPr>
              <a:t>Decision logic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1248" y="3840480"/>
            <a:ext cx="6080760" cy="1463040"/>
          </a:xfrm>
          <a:prstGeom prst="rect">
            <a:avLst/>
          </a:prstGeom>
          <a:noFill/>
        </p:spPr>
        <p:txBody>
          <a:bodyPr wrap="square" lIns="73152" tIns="18288" rIns="36576" bIns="18288">
            <a:spAutoFit/>
          </a:bodyPr>
          <a:lstStyle/>
          <a:p>
            <a:pPr>
              <a:spcAft>
                <a:spcPts val="500"/>
              </a:spcAft>
              <a:defRPr sz="1320">
                <a:solidFill>
                  <a:srgbClr val="1A202C"/>
                </a:solidFill>
                <a:latin typeface="Aptos"/>
              </a:defRPr>
            </a:pPr>
            <a:r>
              <a:t>Estimate demand from population, traffic, conversion, and competition penalty.</a:t>
            </a:r>
          </a:p>
          <a:p>
            <a:pPr>
              <a:spcAft>
                <a:spcPts val="500"/>
              </a:spcAft>
              <a:defRPr sz="1320">
                <a:solidFill>
                  <a:srgbClr val="1A202C"/>
                </a:solidFill>
                <a:latin typeface="Aptos"/>
              </a:defRPr>
            </a:pPr>
            <a:r>
              <a:t>Calculate revenue, gross profit, operating cost, profit, and 3-year NPV.</a:t>
            </a:r>
          </a:p>
          <a:p>
            <a:pPr>
              <a:spcAft>
                <a:spcPts val="500"/>
              </a:spcAft>
              <a:defRPr sz="1320">
                <a:solidFill>
                  <a:srgbClr val="1A202C"/>
                </a:solidFill>
                <a:latin typeface="Aptos"/>
              </a:defRPr>
            </a:pPr>
            <a:r>
              <a:t>Rank alternatives using a weighted score across financial and market variables.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635240" y="3977639"/>
            <a:ext cx="1645920" cy="868680"/>
          </a:xfrm>
          <a:prstGeom prst="roundRect">
            <a:avLst/>
          </a:prstGeom>
          <a:solidFill>
            <a:srgbClr val="F0FFF4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7635240" y="3977639"/>
            <a:ext cx="73152" cy="868680"/>
          </a:xfrm>
          <a:prstGeom prst="rect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799831" y="4050791"/>
            <a:ext cx="1389888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Aptos"/>
              </a:rPr>
              <a:t>Best NPV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99831" y="4270248"/>
            <a:ext cx="1389888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800" b="1">
                <a:solidFill>
                  <a:srgbClr val="1A202C"/>
                </a:solidFill>
                <a:latin typeface="Aptos"/>
              </a:rPr>
              <a:t>SouthSide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99831" y="4590288"/>
            <a:ext cx="1389888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850" b="0">
                <a:solidFill>
                  <a:srgbClr val="718096"/>
                </a:solidFill>
                <a:latin typeface="Aptos"/>
              </a:rPr>
              <a:t>$213K over 3 years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555480" y="3977639"/>
            <a:ext cx="1645920" cy="868680"/>
          </a:xfrm>
          <a:prstGeom prst="roundRect">
            <a:avLst/>
          </a:prstGeom>
          <a:solidFill>
            <a:srgbClr val="EBF8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555480" y="3977639"/>
            <a:ext cx="73152" cy="868680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720072" y="4050791"/>
            <a:ext cx="1389888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Aptos"/>
              </a:rPr>
              <a:t>Best score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720072" y="4270248"/>
            <a:ext cx="1389888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800" b="1">
                <a:solidFill>
                  <a:srgbClr val="1A202C"/>
                </a:solidFill>
                <a:latin typeface="Aptos"/>
              </a:rPr>
              <a:t>79.0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20072" y="4590288"/>
            <a:ext cx="1389888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850" b="0">
                <a:solidFill>
                  <a:srgbClr val="718096"/>
                </a:solidFill>
                <a:latin typeface="Aptos"/>
              </a:rPr>
              <a:t>composite ranking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750" b="0">
                <a:solidFill>
                  <a:srgbClr val="718096"/>
                </a:solidFill>
                <a:latin typeface="Aptos"/>
              </a:rPr>
              <a:t>Decision Support Systems Assignment | New Store Location Selection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475720" y="6510528"/>
            <a:ext cx="27432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800" b="0">
                <a:solidFill>
                  <a:srgbClr val="718096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95360" cy="4297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2900" b="1">
                <a:solidFill>
                  <a:srgbClr val="17324D"/>
                </a:solidFill>
                <a:latin typeface="Aptos Display"/>
              </a:rPr>
              <a:t>Financial Finding: SouthSide Creates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50976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Aptos"/>
              </a:rPr>
              <a:t>Revenue is similar across the top choices, but cost structure separates the winner.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CBD5E0"/>
          </a:solidFill>
          <a:ln w="1016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revenue_vs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6629400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335024"/>
            <a:ext cx="3200400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What the chart means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764792"/>
            <a:ext cx="3520440" cy="10241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580" b="0">
                <a:solidFill>
                  <a:srgbClr val="1A202C"/>
                </a:solidFill>
                <a:latin typeface="Aptos"/>
              </a:rPr>
              <a:t>SouthSide and Downtown/CBD have similar expected revenue, but SouthSide turns that revenue into profit because rent and operating costs are lower.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3246120"/>
            <a:ext cx="301752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43800" y="3246120"/>
            <a:ext cx="73152" cy="868680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08392" y="3319272"/>
            <a:ext cx="2761487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Aptos"/>
              </a:rPr>
              <a:t>SouthSide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08392" y="3538727"/>
            <a:ext cx="2761487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800" b="1">
                <a:solidFill>
                  <a:srgbClr val="1A202C"/>
                </a:solidFill>
                <a:latin typeface="Aptos"/>
              </a:rPr>
              <a:t>$120,923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3858768"/>
            <a:ext cx="2761487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850" b="0">
                <a:solidFill>
                  <a:srgbClr val="718096"/>
                </a:solidFill>
                <a:latin typeface="Aptos"/>
              </a:rPr>
              <a:t>expected monthly sales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315968"/>
            <a:ext cx="3017520" cy="868680"/>
          </a:xfrm>
          <a:prstGeom prst="roundRect">
            <a:avLst/>
          </a:prstGeom>
          <a:solidFill>
            <a:srgbClr val="F0FFF4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4315968"/>
            <a:ext cx="73152" cy="868680"/>
          </a:xfrm>
          <a:prstGeom prst="rect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4389120"/>
            <a:ext cx="2761487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Aptos"/>
              </a:rPr>
              <a:t>SouthSide profit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4608576"/>
            <a:ext cx="2761487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800" b="1">
                <a:solidFill>
                  <a:srgbClr val="1A202C"/>
                </a:solidFill>
                <a:latin typeface="Aptos"/>
              </a:rPr>
              <a:t>$12,844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4928616"/>
            <a:ext cx="2761487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850" b="0">
                <a:solidFill>
                  <a:srgbClr val="718096"/>
                </a:solidFill>
                <a:latin typeface="Aptos"/>
              </a:rPr>
              <a:t>expected monthly profit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5532120"/>
            <a:ext cx="347472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550" b="1">
                <a:solidFill>
                  <a:srgbClr val="2F855A"/>
                </a:solidFill>
                <a:latin typeface="Aptos"/>
              </a:rPr>
              <a:t>Result: choose profit quality, not only top-line revenue.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750" b="0">
                <a:solidFill>
                  <a:srgbClr val="718096"/>
                </a:solidFill>
                <a:latin typeface="Aptos"/>
              </a:rPr>
              <a:t>Decision Support Systems Assignment | New Store Location 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27432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800" b="0">
                <a:solidFill>
                  <a:srgbClr val="718096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95360" cy="4297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2900" b="1">
                <a:solidFill>
                  <a:srgbClr val="17324D"/>
                </a:solidFill>
                <a:latin typeface="Aptos Display"/>
              </a:rPr>
              <a:t>Part 3: Scenario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50976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Aptos"/>
              </a:rPr>
              <a:t>Best, expected, and worst cases stress-test the SouthSide recommendation.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CBD5E0"/>
          </a:solidFill>
          <a:ln w="1016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97280" cy="493776"/>
          </a:xfrm>
          <a:prstGeom prst="rect">
            <a:avLst/>
          </a:prstGeom>
          <a:solidFill>
            <a:srgbClr val="17324D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1252728"/>
            <a:ext cx="1042415" cy="4572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19" y="1234440"/>
            <a:ext cx="3063240" cy="493776"/>
          </a:xfrm>
          <a:prstGeom prst="rect">
            <a:avLst/>
          </a:prstGeom>
          <a:solidFill>
            <a:srgbClr val="17324D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73351" y="1252728"/>
            <a:ext cx="3008376" cy="4572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Key assumptions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234440"/>
            <a:ext cx="1051560" cy="493776"/>
          </a:xfrm>
          <a:prstGeom prst="rect">
            <a:avLst/>
          </a:prstGeom>
          <a:solidFill>
            <a:srgbClr val="17324D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252728"/>
            <a:ext cx="996695" cy="4572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Monthly Profit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234440"/>
            <a:ext cx="1051560" cy="493776"/>
          </a:xfrm>
          <a:prstGeom prst="rect">
            <a:avLst/>
          </a:prstGeom>
          <a:solidFill>
            <a:srgbClr val="17324D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88152" y="1252728"/>
            <a:ext cx="996695" cy="4572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3-Year NPV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28216"/>
            <a:ext cx="1097280" cy="493776"/>
          </a:xfrm>
          <a:prstGeom prst="rect">
            <a:avLst/>
          </a:prstGeom>
          <a:solidFill>
            <a:srgbClr val="F0FFF4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" y="1746504"/>
            <a:ext cx="1042415" cy="4572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819" b="0">
                <a:solidFill>
                  <a:srgbClr val="1A202C"/>
                </a:solidFill>
                <a:latin typeface="Aptos"/>
              </a:rPr>
              <a:t>Best 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19" y="1728216"/>
            <a:ext cx="3063240" cy="493776"/>
          </a:xfrm>
          <a:prstGeom prst="rect">
            <a:avLst/>
          </a:prstGeom>
          <a:solidFill>
            <a:srgbClr val="F0FFF4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73351" y="1746504"/>
            <a:ext cx="3008376" cy="4572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819" b="0">
                <a:solidFill>
                  <a:srgbClr val="1A202C"/>
                </a:solidFill>
                <a:latin typeface="Aptos"/>
              </a:rPr>
              <a:t>Traffic +15%; conversion +12%; margin +2 pts; one fewer competitor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1728216"/>
            <a:ext cx="1051560" cy="493776"/>
          </a:xfrm>
          <a:prstGeom prst="rect">
            <a:avLst/>
          </a:prstGeom>
          <a:solidFill>
            <a:srgbClr val="F0FFF4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36592" y="1746504"/>
            <a:ext cx="996695" cy="4572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19" b="0">
                <a:solidFill>
                  <a:srgbClr val="1A202C"/>
                </a:solidFill>
                <a:latin typeface="Aptos"/>
              </a:rPr>
              <a:t>$38,845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1728216"/>
            <a:ext cx="1051560" cy="493776"/>
          </a:xfrm>
          <a:prstGeom prst="rect">
            <a:avLst/>
          </a:prstGeom>
          <a:solidFill>
            <a:srgbClr val="F0FFF4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88152" y="1746504"/>
            <a:ext cx="996695" cy="4572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19" b="0">
                <a:solidFill>
                  <a:srgbClr val="1A202C"/>
                </a:solidFill>
                <a:latin typeface="Aptos"/>
              </a:rPr>
              <a:t>$989,217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221992"/>
            <a:ext cx="1097280" cy="493776"/>
          </a:xfrm>
          <a:prstGeom prst="rect">
            <a:avLst/>
          </a:prstGeom>
          <a:solidFill>
            <a:srgbClr val="EBF8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" y="2240280"/>
            <a:ext cx="1042415" cy="4572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819" b="0">
                <a:solidFill>
                  <a:srgbClr val="1A202C"/>
                </a:solidFill>
                <a:latin typeface="Aptos"/>
              </a:rPr>
              <a:t>Expected Case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19" y="2221992"/>
            <a:ext cx="3063240" cy="493776"/>
          </a:xfrm>
          <a:prstGeom prst="rect">
            <a:avLst/>
          </a:prstGeom>
          <a:solidFill>
            <a:srgbClr val="EBF8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673351" y="2240280"/>
            <a:ext cx="3008376" cy="4572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819" b="0">
                <a:solidFill>
                  <a:srgbClr val="1A202C"/>
                </a:solidFill>
                <a:latin typeface="Aptos"/>
              </a:rPr>
              <a:t>Base forecast assumptions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2221992"/>
            <a:ext cx="1051560" cy="493776"/>
          </a:xfrm>
          <a:prstGeom prst="rect">
            <a:avLst/>
          </a:prstGeom>
          <a:solidFill>
            <a:srgbClr val="EBF8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36592" y="2240280"/>
            <a:ext cx="996695" cy="4572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19" b="0">
                <a:solidFill>
                  <a:srgbClr val="1A202C"/>
                </a:solidFill>
                <a:latin typeface="Aptos"/>
              </a:rPr>
              <a:t>$12,844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2221992"/>
            <a:ext cx="1051560" cy="493776"/>
          </a:xfrm>
          <a:prstGeom prst="rect">
            <a:avLst/>
          </a:prstGeom>
          <a:solidFill>
            <a:srgbClr val="EBF8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88152" y="2240280"/>
            <a:ext cx="996695" cy="4572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19" b="0">
                <a:solidFill>
                  <a:srgbClr val="1A202C"/>
                </a:solidFill>
                <a:latin typeface="Aptos"/>
              </a:rPr>
              <a:t>$213,302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715768"/>
            <a:ext cx="1097280" cy="493776"/>
          </a:xfrm>
          <a:prstGeom prst="rect">
            <a:avLst/>
          </a:prstGeom>
          <a:solidFill>
            <a:srgbClr val="FFF5F5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" y="2734056"/>
            <a:ext cx="1042415" cy="4572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819" b="0">
                <a:solidFill>
                  <a:srgbClr val="1A202C"/>
                </a:solidFill>
                <a:latin typeface="Aptos"/>
              </a:rPr>
              <a:t>Worst Case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19" y="2715768"/>
            <a:ext cx="3063240" cy="493776"/>
          </a:xfrm>
          <a:prstGeom prst="rect">
            <a:avLst/>
          </a:prstGeom>
          <a:solidFill>
            <a:srgbClr val="FFF5F5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673351" y="2734056"/>
            <a:ext cx="3008376" cy="4572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819" b="0">
                <a:solidFill>
                  <a:srgbClr val="1A202C"/>
                </a:solidFill>
                <a:latin typeface="Aptos"/>
              </a:rPr>
              <a:t>Traffic -15%; conversion -12%; rent +7%; margin -3 pts; two more competitors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2715768"/>
            <a:ext cx="1051560" cy="493776"/>
          </a:xfrm>
          <a:prstGeom prst="rect">
            <a:avLst/>
          </a:prstGeom>
          <a:solidFill>
            <a:srgbClr val="FFF5F5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36592" y="2734056"/>
            <a:ext cx="996695" cy="4572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19" b="0">
                <a:solidFill>
                  <a:srgbClr val="1A202C"/>
                </a:solidFill>
                <a:latin typeface="Aptos"/>
              </a:rPr>
              <a:t>-$11,080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2715768"/>
            <a:ext cx="1051560" cy="493776"/>
          </a:xfrm>
          <a:prstGeom prst="rect">
            <a:avLst/>
          </a:prstGeom>
          <a:solidFill>
            <a:srgbClr val="FFF5F5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788152" y="2734056"/>
            <a:ext cx="996695" cy="45720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19" b="0">
                <a:solidFill>
                  <a:srgbClr val="1A202C"/>
                </a:solidFill>
                <a:latin typeface="Aptos"/>
              </a:rPr>
              <a:t>-$500,656</a:t>
            </a:r>
          </a:p>
        </p:txBody>
      </p:sp>
      <p:pic>
        <p:nvPicPr>
          <p:cNvPr id="37" name="Picture 36" descr="scenario_np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143000"/>
            <a:ext cx="4526280" cy="27889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85800" y="3886200"/>
            <a:ext cx="2468880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900" b="1">
                <a:solidFill>
                  <a:srgbClr val="17324D"/>
                </a:solidFill>
                <a:latin typeface="Aptos"/>
              </a:rPr>
              <a:t>Risk interpretation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315968"/>
            <a:ext cx="5669280" cy="10241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580" b="0">
                <a:solidFill>
                  <a:srgbClr val="1A202C"/>
                </a:solidFill>
                <a:latin typeface="Aptos"/>
              </a:rPr>
              <a:t>The expected case is financially attractive, but the worst case is a material risk. Management should negotiate flexible lease terms, validate demand, and monitor conversion before final commitment.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86600" y="4343400"/>
            <a:ext cx="1828800" cy="868680"/>
          </a:xfrm>
          <a:prstGeom prst="roundRect">
            <a:avLst/>
          </a:prstGeom>
          <a:solidFill>
            <a:srgbClr val="F0FFF4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086600" y="4343400"/>
            <a:ext cx="73152" cy="868680"/>
          </a:xfrm>
          <a:prstGeom prst="rect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51192" y="4416552"/>
            <a:ext cx="1572768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Aptos"/>
              </a:rPr>
              <a:t>Expected case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51192" y="4636008"/>
            <a:ext cx="1572768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800" b="1">
                <a:solidFill>
                  <a:srgbClr val="1A202C"/>
                </a:solidFill>
                <a:latin typeface="Aptos"/>
              </a:rPr>
              <a:t>$213K NPV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51192" y="4956048"/>
            <a:ext cx="1572768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850" b="0">
                <a:solidFill>
                  <a:srgbClr val="718096"/>
                </a:solidFill>
                <a:latin typeface="Aptos"/>
              </a:rPr>
              <a:t>go-forward base case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4343400"/>
            <a:ext cx="1828800" cy="868680"/>
          </a:xfrm>
          <a:prstGeom prst="roundRect">
            <a:avLst/>
          </a:prstGeom>
          <a:solidFill>
            <a:srgbClr val="FFF5F5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144000" y="4343400"/>
            <a:ext cx="73152" cy="868680"/>
          </a:xfrm>
          <a:prstGeom prst="rect">
            <a:avLst/>
          </a:prstGeom>
          <a:solidFill>
            <a:srgbClr val="C53030"/>
          </a:solidFill>
          <a:ln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308592" y="4416552"/>
            <a:ext cx="1572768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Aptos"/>
              </a:rPr>
              <a:t>Worst case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08592" y="4636008"/>
            <a:ext cx="1572768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800" b="1">
                <a:solidFill>
                  <a:srgbClr val="1A202C"/>
                </a:solidFill>
                <a:latin typeface="Aptos"/>
              </a:rPr>
              <a:t>-$501K NPV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08592" y="4956048"/>
            <a:ext cx="1572768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850" b="0">
                <a:solidFill>
                  <a:srgbClr val="718096"/>
                </a:solidFill>
                <a:latin typeface="Aptos"/>
              </a:rPr>
              <a:t>risk to mitigate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750" b="0">
                <a:solidFill>
                  <a:srgbClr val="718096"/>
                </a:solidFill>
                <a:latin typeface="Aptos"/>
              </a:rPr>
              <a:t>Decision Support Systems Assignment | New Store Location Selection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75720" y="6510528"/>
            <a:ext cx="27432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800" b="0">
                <a:solidFill>
                  <a:srgbClr val="718096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95360" cy="4297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2900" b="1">
                <a:solidFill>
                  <a:srgbClr val="17324D"/>
                </a:solidFill>
                <a:latin typeface="Aptos Display"/>
              </a:rPr>
              <a:t>Goal Seek and Solver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50976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Aptos"/>
              </a:rPr>
              <a:t>The DSS identifies the break-even revenue target and efficient staffing level.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CBD5E0"/>
          </a:solidFill>
          <a:ln w="1016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53312"/>
            <a:ext cx="2880360" cy="868680"/>
          </a:xfrm>
          <a:prstGeom prst="roundRect">
            <a:avLst/>
          </a:prstGeom>
          <a:solidFill>
            <a:srgbClr val="EBF8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53312"/>
            <a:ext cx="73152" cy="868680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26464"/>
            <a:ext cx="2624328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Aptos"/>
              </a:rPr>
              <a:t>Goal Seek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645920"/>
            <a:ext cx="2624328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800" b="1">
                <a:solidFill>
                  <a:srgbClr val="1A202C"/>
                </a:solidFill>
                <a:latin typeface="Aptos"/>
              </a:rPr>
              <a:t>$108,808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65960"/>
            <a:ext cx="2624328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850" b="0">
                <a:solidFill>
                  <a:srgbClr val="718096"/>
                </a:solidFill>
                <a:latin typeface="Aptos"/>
              </a:rPr>
              <a:t>monthly revenue needed for NPV =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353312"/>
            <a:ext cx="2880360" cy="868680"/>
          </a:xfrm>
          <a:prstGeom prst="roundRect">
            <a:avLst/>
          </a:prstGeom>
          <a:solidFill>
            <a:srgbClr val="F0FFF4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94760" y="1353312"/>
            <a:ext cx="73152" cy="868680"/>
          </a:xfrm>
          <a:prstGeom prst="rect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59352" y="1426464"/>
            <a:ext cx="2624328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Aptos"/>
              </a:rPr>
              <a:t>Expected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352" y="1645920"/>
            <a:ext cx="2624328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800" b="1">
                <a:solidFill>
                  <a:srgbClr val="1A202C"/>
                </a:solidFill>
                <a:latin typeface="Aptos"/>
              </a:rPr>
              <a:t>$120,923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9352" y="1965960"/>
            <a:ext cx="2624328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850" b="0">
                <a:solidFill>
                  <a:srgbClr val="718096"/>
                </a:solidFill>
                <a:latin typeface="Aptos"/>
              </a:rPr>
              <a:t>monthly forecast for SouthSide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1353312"/>
            <a:ext cx="28803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03720" y="1353312"/>
            <a:ext cx="73152" cy="868680"/>
          </a:xfrm>
          <a:prstGeom prst="rect">
            <a:avLst/>
          </a:prstGeom>
          <a:solidFill>
            <a:srgbClr val="D69E2E"/>
          </a:solidFill>
          <a:ln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68312" y="1426464"/>
            <a:ext cx="2624328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Aptos"/>
              </a:rPr>
              <a:t>Revenue cushion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1645920"/>
            <a:ext cx="2624328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800" b="1">
                <a:solidFill>
                  <a:srgbClr val="1A202C"/>
                </a:solidFill>
                <a:latin typeface="Aptos"/>
              </a:rPr>
              <a:t>$12,115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312" y="1965960"/>
            <a:ext cx="2624328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850" b="0">
                <a:solidFill>
                  <a:srgbClr val="718096"/>
                </a:solidFill>
                <a:latin typeface="Aptos"/>
              </a:rPr>
              <a:t>expected revenue above break-even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788920"/>
            <a:ext cx="3017520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Solver-style staffing logic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218688"/>
            <a:ext cx="1691640" cy="393192"/>
          </a:xfrm>
          <a:prstGeom prst="rect">
            <a:avLst/>
          </a:prstGeom>
          <a:solidFill>
            <a:srgbClr val="17324D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3236976"/>
            <a:ext cx="1636776" cy="35661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Input / result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3218688"/>
            <a:ext cx="1234440" cy="393192"/>
          </a:xfrm>
          <a:prstGeom prst="rect">
            <a:avLst/>
          </a:prstGeom>
          <a:solidFill>
            <a:srgbClr val="17324D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96312" y="3236976"/>
            <a:ext cx="1179576" cy="35661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Value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3320" y="3218688"/>
            <a:ext cx="2697480" cy="393192"/>
          </a:xfrm>
          <a:prstGeom prst="rect">
            <a:avLst/>
          </a:prstGeom>
          <a:solidFill>
            <a:srgbClr val="17324D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30752" y="3236976"/>
            <a:ext cx="2642616" cy="35661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611880"/>
            <a:ext cx="16916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3630168"/>
            <a:ext cx="1636776" cy="35661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900" b="0">
                <a:solidFill>
                  <a:srgbClr val="1A202C"/>
                </a:solidFill>
                <a:latin typeface="Aptos"/>
              </a:rPr>
              <a:t>Projected customers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3611880"/>
            <a:ext cx="12344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496312" y="3630168"/>
            <a:ext cx="1179576" cy="35661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900" b="0">
                <a:solidFill>
                  <a:srgbClr val="1A202C"/>
                </a:solidFill>
                <a:latin typeface="Aptos"/>
              </a:rPr>
              <a:t>5,258/month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03320" y="3611880"/>
            <a:ext cx="26974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730752" y="3630168"/>
            <a:ext cx="2642616" cy="35661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900" b="0">
                <a:solidFill>
                  <a:srgbClr val="1A202C"/>
                </a:solidFill>
                <a:latin typeface="Aptos"/>
              </a:rPr>
              <a:t>Expected demand to serve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005072"/>
            <a:ext cx="16916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2" y="4023359"/>
            <a:ext cx="1636776" cy="35661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900" b="0">
                <a:solidFill>
                  <a:srgbClr val="1A202C"/>
                </a:solidFill>
                <a:latin typeface="Aptos"/>
              </a:rPr>
              <a:t>Capacity per employee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0" y="4005072"/>
            <a:ext cx="12344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96312" y="4023359"/>
            <a:ext cx="1179576" cy="35661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900" b="0">
                <a:solidFill>
                  <a:srgbClr val="1A202C"/>
                </a:solidFill>
                <a:latin typeface="Aptos"/>
              </a:rPr>
              <a:t>250/month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03320" y="4005072"/>
            <a:ext cx="26974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30752" y="4023359"/>
            <a:ext cx="2642616" cy="35661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900" b="0">
                <a:solidFill>
                  <a:srgbClr val="1A202C"/>
                </a:solidFill>
                <a:latin typeface="Aptos"/>
              </a:rPr>
              <a:t>Staffing productivity assumption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398264"/>
            <a:ext cx="16916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4672" y="4416552"/>
            <a:ext cx="1636776" cy="35661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900" b="0">
                <a:solidFill>
                  <a:srgbClr val="1A202C"/>
                </a:solidFill>
                <a:latin typeface="Aptos"/>
              </a:rPr>
              <a:t>Minimum employees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68880" y="4398264"/>
            <a:ext cx="12344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496312" y="4416552"/>
            <a:ext cx="1179576" cy="35661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900" b="0">
                <a:solidFill>
                  <a:srgbClr val="1A202C"/>
                </a:solidFill>
                <a:latin typeface="Aptos"/>
              </a:rPr>
              <a:t>22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03320" y="4398264"/>
            <a:ext cx="26974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730752" y="4416552"/>
            <a:ext cx="2642616" cy="35661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900" b="0">
                <a:solidFill>
                  <a:srgbClr val="1A202C"/>
                </a:solidFill>
                <a:latin typeface="Aptos"/>
              </a:rPr>
              <a:t>Smallest feasible staffing level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4791456"/>
            <a:ext cx="16916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4672" y="4809744"/>
            <a:ext cx="1636776" cy="35661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900" b="0">
                <a:solidFill>
                  <a:srgbClr val="1A202C"/>
                </a:solidFill>
                <a:latin typeface="Aptos"/>
              </a:rPr>
              <a:t>Optimized monthly profit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8880" y="4791456"/>
            <a:ext cx="12344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496312" y="4809744"/>
            <a:ext cx="1179576" cy="35661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900" b="0">
                <a:solidFill>
                  <a:srgbClr val="1A202C"/>
                </a:solidFill>
                <a:latin typeface="Aptos"/>
              </a:rPr>
              <a:t>$12,844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03320" y="4791456"/>
            <a:ext cx="26974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730752" y="4809744"/>
            <a:ext cx="2642616" cy="35661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900" b="0">
                <a:solidFill>
                  <a:srgbClr val="1A202C"/>
                </a:solidFill>
                <a:latin typeface="Aptos"/>
              </a:rPr>
              <a:t>Profit after efficient staffing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6766560" y="3520440"/>
            <a:ext cx="914400" cy="1143000"/>
          </a:xfrm>
          <a:prstGeom prst="rightArrow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01000" y="3337560"/>
            <a:ext cx="3017520" cy="11430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700" b="1">
                <a:solidFill>
                  <a:srgbClr val="17324D"/>
                </a:solidFill>
                <a:latin typeface="Aptos"/>
              </a:rPr>
              <a:t>Proceed only if revenue stays above break-even and the staffing plan can cover the projected customer load.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01000" y="4718304"/>
            <a:ext cx="306324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420" b="0">
                <a:solidFill>
                  <a:srgbClr val="1A202C"/>
                </a:solidFill>
                <a:latin typeface="Aptos"/>
              </a:rPr>
              <a:t>Decision checkpoint: revenue forecast has an 11.1% cushion above the break-even target.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750" b="0">
                <a:solidFill>
                  <a:srgbClr val="718096"/>
                </a:solidFill>
                <a:latin typeface="Aptos"/>
              </a:rPr>
              <a:t>Decision Support Systems Assignment | New Store Location Selection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75720" y="6510528"/>
            <a:ext cx="27432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800" b="0">
                <a:solidFill>
                  <a:srgbClr val="718096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595360" cy="4297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2900" b="1">
                <a:solidFill>
                  <a:srgbClr val="17324D"/>
                </a:solidFill>
                <a:latin typeface="Aptos Display"/>
              </a:rPr>
              <a:t>Part 4: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950976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Aptos"/>
              </a:rPr>
              <a:t>Open SouthSide, with risk controls before final lease commitment.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201400" cy="9144"/>
          </a:xfrm>
          <a:prstGeom prst="rect">
            <a:avLst/>
          </a:prstGeom>
          <a:solidFill>
            <a:srgbClr val="CBD5E0"/>
          </a:solidFill>
          <a:ln w="1016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0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Recommended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38912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2800" b="1">
                <a:solidFill>
                  <a:srgbClr val="2F855A"/>
                </a:solidFill>
                <a:latin typeface="Aptos"/>
              </a:rPr>
              <a:t>Open the SouthSide location.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2468880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900" b="1">
                <a:solidFill>
                  <a:srgbClr val="17324D"/>
                </a:solidFill>
                <a:latin typeface="Aptos"/>
              </a:rPr>
              <a:t>Data justification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36392"/>
            <a:ext cx="4663440" cy="9601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580" b="0">
                <a:solidFill>
                  <a:srgbClr val="1A202C"/>
                </a:solidFill>
                <a:latin typeface="Aptos"/>
              </a:rPr>
              <a:t>SouthSide is the only option with a clearly positive three-year NPV, the highest expected monthly profit, the lowest rent, and the strongest weighted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983480"/>
            <a:ext cx="37947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4983480"/>
            <a:ext cx="73152" cy="868680"/>
          </a:xfrm>
          <a:prstGeom prst="rect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5056632"/>
            <a:ext cx="3538728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Aptos"/>
              </a:rPr>
              <a:t>Final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5276088"/>
            <a:ext cx="3538728" cy="29260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800" b="1">
                <a:solidFill>
                  <a:srgbClr val="1A202C"/>
                </a:solidFill>
                <a:latin typeface="Aptos"/>
              </a:rPr>
              <a:t>Proceed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5596128"/>
            <a:ext cx="3538728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850" b="0">
                <a:solidFill>
                  <a:srgbClr val="718096"/>
                </a:solidFill>
                <a:latin typeface="Aptos"/>
              </a:rPr>
              <a:t>if validation supports expected-case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417320"/>
            <a:ext cx="2926080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Potential limitations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828800"/>
            <a:ext cx="1600200" cy="429768"/>
          </a:xfrm>
          <a:prstGeom prst="rect">
            <a:avLst/>
          </a:prstGeom>
          <a:solidFill>
            <a:srgbClr val="17324D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16752" y="1847088"/>
            <a:ext cx="1545336" cy="3931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Aptos"/>
              </a:rPr>
              <a:t>Limitation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828800"/>
            <a:ext cx="3611880" cy="429768"/>
          </a:xfrm>
          <a:prstGeom prst="rect">
            <a:avLst/>
          </a:prstGeom>
          <a:solidFill>
            <a:srgbClr val="17324D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16952" y="1847088"/>
            <a:ext cx="3557016" cy="3931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Mitigation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258568"/>
            <a:ext cx="160020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16752" y="2276856"/>
            <a:ext cx="1545336" cy="3931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880" b="0">
                <a:solidFill>
                  <a:srgbClr val="1A202C"/>
                </a:solidFill>
                <a:latin typeface="Aptos"/>
              </a:rPr>
              <a:t>Demand estimates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2258568"/>
            <a:ext cx="361188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16952" y="2276856"/>
            <a:ext cx="3557016" cy="3931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880" b="0">
                <a:solidFill>
                  <a:srgbClr val="1A202C"/>
                </a:solidFill>
                <a:latin typeface="Aptos"/>
              </a:rPr>
              <a:t>Validate foot traffic and conversion with field checks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2688336"/>
            <a:ext cx="160020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16752" y="2706624"/>
            <a:ext cx="1545336" cy="3931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880" b="0">
                <a:solidFill>
                  <a:srgbClr val="1A202C"/>
                </a:solidFill>
                <a:latin typeface="Aptos"/>
              </a:rPr>
              <a:t>Lease risk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2688336"/>
            <a:ext cx="361188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16952" y="2706624"/>
            <a:ext cx="3557016" cy="3931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880" b="0">
                <a:solidFill>
                  <a:srgbClr val="1A202C"/>
                </a:solidFill>
                <a:latin typeface="Aptos"/>
              </a:rPr>
              <a:t>Negotiate rent escalators and exit terms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3118104"/>
            <a:ext cx="160020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16752" y="3136392"/>
            <a:ext cx="1545336" cy="3931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880" b="0">
                <a:solidFill>
                  <a:srgbClr val="1A202C"/>
                </a:solidFill>
                <a:latin typeface="Aptos"/>
              </a:rPr>
              <a:t>Competition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0" y="3118104"/>
            <a:ext cx="361188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16952" y="3136392"/>
            <a:ext cx="3557016" cy="3931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880" b="0">
                <a:solidFill>
                  <a:srgbClr val="1A202C"/>
                </a:solidFill>
                <a:latin typeface="Aptos"/>
              </a:rPr>
              <a:t>Update competitor count before signing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3547872"/>
            <a:ext cx="160020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16752" y="3566160"/>
            <a:ext cx="1545336" cy="3931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880" b="0">
                <a:solidFill>
                  <a:srgbClr val="1A202C"/>
                </a:solidFill>
                <a:latin typeface="Aptos"/>
              </a:rPr>
              <a:t>Operating assumptions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3547872"/>
            <a:ext cx="361188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16952" y="3566160"/>
            <a:ext cx="3557016" cy="39319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/>
            <a:r>
              <a:rPr sz="880" b="0">
                <a:solidFill>
                  <a:srgbClr val="1A202C"/>
                </a:solidFill>
                <a:latin typeface="Aptos"/>
              </a:rPr>
              <a:t>Replace model inputs with actual company benchmarks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4572000"/>
            <a:ext cx="1828800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900" b="1">
                <a:solidFill>
                  <a:srgbClr val="17324D"/>
                </a:solidFill>
                <a:latin typeface="Aptos"/>
              </a:rPr>
              <a:t>Next actions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4956048"/>
            <a:ext cx="5074920" cy="5486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Aptos"/>
              </a:rPr>
              <a:t>1) Verify site data.  2) Negotiate lease.  3) Finalize staffing plan.  4) Launch with KPI monitoring.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750" b="0">
                <a:solidFill>
                  <a:srgbClr val="718096"/>
                </a:solidFill>
                <a:latin typeface="Aptos"/>
              </a:rPr>
              <a:t>Decision Support Systems Assignment | New Store Location Selection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10528"/>
            <a:ext cx="274320" cy="2011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800" b="0">
                <a:solidFill>
                  <a:srgbClr val="718096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817</Words>
  <Application>Microsoft Macintosh PowerPoint</Application>
  <PresentationFormat>Widescreen</PresentationFormat>
  <Paragraphs>189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Decision Support Systems to Make a Business Decision</dc:title>
  <dc:subject>New Store Location Selection</dc:subject>
  <dc:creator>Juan Barrera</dc:creator>
  <cp:keywords/>
  <dc:description>PowerPoint-compatible version generated without embedded editable charts.</dc:description>
  <cp:lastModifiedBy>Barrera, Juan J</cp:lastModifiedBy>
  <cp:revision>2</cp:revision>
  <dcterms:created xsi:type="dcterms:W3CDTF">2013-01-27T09:14:16Z</dcterms:created>
  <dcterms:modified xsi:type="dcterms:W3CDTF">2026-06-23T04:00:21Z</dcterms:modified>
  <cp:category/>
</cp:coreProperties>
</file>