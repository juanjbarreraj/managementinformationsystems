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74"/>
    <p:restoredTop sz="94610"/>
  </p:normalViewPr>
  <p:slideViewPr>
    <p:cSldViewPr snapToGrid="0" snapToObjects="1">
      <p:cViewPr>
        <p:scale>
          <a:sx n="309" d="100"/>
          <a:sy n="309" d="100"/>
        </p:scale>
        <p:origin x="-603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3547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state the final recommendation: phased hybrid modernization for NorthStar Distribution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current weaknesses: old servers, single internet connection, weekly manual backups, weak security controls, and small IT staff.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backups, security controls, and aging servers are critical because they can stop operations or prevent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main technology recommendations: modern servers, improved storage, stronger networking, Microsoft security controls, password vault, and automated backup and disaster recovery.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fully on-premise is too costly and fragile, fully cloud may be too disruptive, and hybrid is the best fit for three locations and local operations.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NorthStar should not move everything at once. Local core systems remain stable, while cloud handles backup, DR, identity, security, and future portal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phases and mention that costs are planning anchors, not vendor quotes.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final business takeaway: hybrid modernization improves resilience without forcing a risky full cloud migration.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841248"/>
            <a:ext cx="11612880" cy="0"/>
          </a:xfrm>
          <a:prstGeom prst="line">
            <a:avLst/>
          </a:prstGeom>
          <a:noFill/>
          <a:ln w="15240">
            <a:solidFill>
              <a:srgbClr val="2F559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6565392"/>
            <a:ext cx="9326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by Juan Barrera | Professor Jeffrey Seaman | Management Information Systems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82396"/>
            <a:ext cx="74980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F4E79"/>
                </a:solidFill>
              </a:rPr>
              <a:t>Technology Infrastructure Assessment &amp; Modernization Plan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12064" y="16916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1F1F"/>
                </a:solidFill>
              </a:rPr>
              <a:t>NorthStar Distribution Services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21208" y="21488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5959"/>
                </a:solidFill>
              </a:rPr>
              <a:t>Recommendation: phased hybrid modernization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2944368"/>
            <a:ext cx="15453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150 employees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23160" y="2880360"/>
            <a:ext cx="1508760" cy="411480"/>
          </a:xfrm>
          <a:prstGeom prst="roundRect">
            <a:avLst>
              <a:gd name="adj" fmla="val 17778"/>
            </a:avLst>
          </a:prstGeom>
          <a:solidFill>
            <a:srgbClr val="5B9BD5"/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96312" y="2944368"/>
            <a:ext cx="136245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 locations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0" y="2880360"/>
            <a:ext cx="1783080" cy="411480"/>
          </a:xfrm>
          <a:prstGeom prst="roundRect">
            <a:avLst>
              <a:gd name="adj" fmla="val 17778"/>
            </a:avLst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87952" y="2944368"/>
            <a:ext cx="163677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Growing portal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288036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53912" y="2944368"/>
            <a:ext cx="1773936" cy="2834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3-person IT team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66760" y="960120"/>
            <a:ext cx="3017520" cy="4343400"/>
          </a:xfrm>
          <a:prstGeom prst="roundRect">
            <a:avLst>
              <a:gd name="adj" fmla="val 3030"/>
            </a:avLst>
          </a:prstGeom>
          <a:solidFill>
            <a:srgbClr val="EAF2F8"/>
          </a:solidFill>
          <a:ln w="12700">
            <a:solidFill>
              <a:srgbClr val="B7C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4E79"/>
                </a:solidFill>
              </a:rPr>
              <a:t>Consultant Focus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32520" y="17373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1F1F1F"/>
                </a:solidFill>
              </a:rPr>
              <a:t>Assess current weaknesses</a:t>
            </a:r>
            <a:endParaRPr lang="en-US" sz="1160" dirty="0"/>
          </a:p>
        </p:txBody>
      </p:sp>
      <p:sp>
        <p:nvSpPr>
          <p:cNvPr id="16" name="Text 14"/>
          <p:cNvSpPr/>
          <p:nvPr/>
        </p:nvSpPr>
        <p:spPr>
          <a:xfrm>
            <a:off x="8732520" y="23500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1F1F1F"/>
                </a:solidFill>
              </a:rPr>
              <a:t>Prioritize business risks</a:t>
            </a:r>
            <a:endParaRPr lang="en-US" sz="1160" dirty="0"/>
          </a:p>
        </p:txBody>
      </p:sp>
      <p:sp>
        <p:nvSpPr>
          <p:cNvPr id="17" name="Text 15"/>
          <p:cNvSpPr/>
          <p:nvPr/>
        </p:nvSpPr>
        <p:spPr>
          <a:xfrm>
            <a:off x="8732520" y="2962656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1F1F1F"/>
                </a:solidFill>
              </a:rPr>
              <a:t>Modernize infrastructure + security</a:t>
            </a:r>
            <a:endParaRPr lang="en-US" sz="1160" dirty="0"/>
          </a:p>
        </p:txBody>
      </p:sp>
      <p:sp>
        <p:nvSpPr>
          <p:cNvPr id="18" name="Text 16"/>
          <p:cNvSpPr/>
          <p:nvPr/>
        </p:nvSpPr>
        <p:spPr>
          <a:xfrm>
            <a:off x="8732520" y="357530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1F1F1F"/>
                </a:solidFill>
              </a:rPr>
              <a:t>Strengthen backup and recovery</a:t>
            </a: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8732520" y="418795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60" dirty="0">
                <a:solidFill>
                  <a:srgbClr val="1F1F1F"/>
                </a:solidFill>
              </a:rPr>
              <a:t>Scale web portal growth</a:t>
            </a:r>
            <a:endParaRPr lang="en-US" sz="1160" dirty="0"/>
          </a:p>
        </p:txBody>
      </p:sp>
      <p:sp>
        <p:nvSpPr>
          <p:cNvPr id="20" name="Text 18"/>
          <p:cNvSpPr/>
          <p:nvPr/>
        </p:nvSpPr>
        <p:spPr>
          <a:xfrm>
            <a:off x="548640" y="52578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</a:rPr>
              <a:t>Made by Juan Barrera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</a:rPr>
              <a:t>Professor Jeffrey Seaman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1F1F"/>
                </a:solidFill>
              </a:rPr>
              <a:t>Management Information Systems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</a:rPr>
              <a:t>Current Infrastructure Assessment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38328" y="621792"/>
            <a:ext cx="11247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</a:rPr>
              <a:t>Weaknesses are tied to specific technology areas and business risks.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09728" cy="14173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04088" y="1252728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F4E79"/>
                </a:solidFill>
              </a:rPr>
              <a:t>Servers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667512" y="1225296"/>
            <a:ext cx="309981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1F1F"/>
                </a:solidFill>
              </a:rPr>
              <a:t>Aging 5-7 year old servers; limited failover; core business workloads at risk.</a:t>
            </a:r>
            <a:endParaRPr lang="en-US" sz="890" dirty="0"/>
          </a:p>
        </p:txBody>
      </p:sp>
      <p:sp>
        <p:nvSpPr>
          <p:cNvPr id="8" name="Shape 6"/>
          <p:cNvSpPr/>
          <p:nvPr/>
        </p:nvSpPr>
        <p:spPr>
          <a:xfrm>
            <a:off x="4443984" y="1153933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89120" y="1143000"/>
            <a:ext cx="109728" cy="14173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90288" y="1252728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F4E79"/>
                </a:solidFill>
              </a:rPr>
              <a:t>Networking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4590288" y="1144789"/>
            <a:ext cx="309981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1F1F"/>
                </a:solidFill>
              </a:rPr>
              <a:t>Single HQ internet connection; older edge controls; limited monitoring and segmentation.</a:t>
            </a:r>
            <a:endParaRPr lang="en-US" sz="890" dirty="0"/>
          </a:p>
        </p:txBody>
      </p:sp>
      <p:sp>
        <p:nvSpPr>
          <p:cNvPr id="12" name="Shape 10"/>
          <p:cNvSpPr/>
          <p:nvPr/>
        </p:nvSpPr>
        <p:spPr>
          <a:xfrm>
            <a:off x="8275320" y="114300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75320" y="1143000"/>
            <a:ext cx="109728" cy="141732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76488" y="1252728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F4E79"/>
                </a:solidFill>
              </a:rPr>
              <a:t>Storage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8467344" y="1152740"/>
            <a:ext cx="309981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1F1F"/>
                </a:solidFill>
              </a:rPr>
              <a:t>Capacity pressure from growth, documents, logs, portal activity, and backups.</a:t>
            </a:r>
            <a:endParaRPr lang="en-US" sz="890" dirty="0"/>
          </a:p>
        </p:txBody>
      </p:sp>
      <p:sp>
        <p:nvSpPr>
          <p:cNvPr id="16" name="Shape 14"/>
          <p:cNvSpPr/>
          <p:nvPr/>
        </p:nvSpPr>
        <p:spPr>
          <a:xfrm>
            <a:off x="502920" y="320040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3200400"/>
            <a:ext cx="109728" cy="14173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088" y="3310128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F4E79"/>
                </a:solidFill>
              </a:rPr>
              <a:t>Backups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704088" y="3202388"/>
            <a:ext cx="309981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1F1F"/>
                </a:solidFill>
              </a:rPr>
              <a:t>Weekly manual backups; no offsite/immutable copy; no tested restore process.</a:t>
            </a:r>
            <a:endParaRPr lang="en-US" sz="890" dirty="0"/>
          </a:p>
        </p:txBody>
      </p:sp>
      <p:sp>
        <p:nvSpPr>
          <p:cNvPr id="20" name="Shape 18"/>
          <p:cNvSpPr/>
          <p:nvPr/>
        </p:nvSpPr>
        <p:spPr>
          <a:xfrm>
            <a:off x="4389120" y="320040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89120" y="3200400"/>
            <a:ext cx="109728" cy="14173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90288" y="3310128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F4E79"/>
                </a:solidFill>
              </a:rPr>
              <a:t>Security Controls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4590288" y="3195828"/>
            <a:ext cx="309981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1F1F"/>
                </a:solidFill>
              </a:rPr>
              <a:t>Limited MFA, password governance, endpoint protection, and centralized logging.</a:t>
            </a:r>
            <a:endParaRPr lang="en-US" sz="890" dirty="0"/>
          </a:p>
        </p:txBody>
      </p:sp>
      <p:sp>
        <p:nvSpPr>
          <p:cNvPr id="24" name="Shape 22"/>
          <p:cNvSpPr/>
          <p:nvPr/>
        </p:nvSpPr>
        <p:spPr>
          <a:xfrm>
            <a:off x="8275320" y="320040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75320" y="3200400"/>
            <a:ext cx="109728" cy="141732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476488" y="3310128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F4E79"/>
                </a:solidFill>
              </a:rPr>
              <a:t>IT Staffing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8513064" y="3208153"/>
            <a:ext cx="309981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1F1F"/>
                </a:solidFill>
              </a:rPr>
              <a:t>Three employees support 150 users, three locations, warehouse systems, and web portal growth.</a:t>
            </a:r>
            <a:endParaRPr lang="en-US" sz="890" dirty="0"/>
          </a:p>
        </p:txBody>
      </p:sp>
      <p:sp>
        <p:nvSpPr>
          <p:cNvPr id="28" name="Shape 26"/>
          <p:cNvSpPr/>
          <p:nvPr/>
        </p:nvSpPr>
        <p:spPr>
          <a:xfrm>
            <a:off x="594360" y="5532120"/>
            <a:ext cx="10972800" cy="548640"/>
          </a:xfrm>
          <a:prstGeom prst="roundRect">
            <a:avLst>
              <a:gd name="adj" fmla="val 13333"/>
            </a:avLst>
          </a:prstGeom>
          <a:solidFill>
            <a:srgbClr val="EAF2F8"/>
          </a:solidFill>
          <a:ln w="12700">
            <a:solidFill>
              <a:srgbClr val="B7C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04672" y="5705856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4E79"/>
                </a:solidFill>
              </a:rPr>
              <a:t>Immediate attention: backup/DR, MFA/password controls, server modernization, secondary internet, and monitoring.</a:t>
            </a:r>
            <a:endParaRPr lang="en-US" sz="11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</a:rPr>
              <a:t>Risk Assessment Matrix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38328" y="621792"/>
            <a:ext cx="11247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</a:rPr>
              <a:t>Critical risks can directly stop operations or prevent recovery after an incident.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42416"/>
            <a:ext cx="3200400" cy="44805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9496" y="1097280"/>
            <a:ext cx="31272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Risk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3703320" y="1042416"/>
            <a:ext cx="1051560" cy="44805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739896" y="1097280"/>
            <a:ext cx="978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Likelihood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754880" y="1042416"/>
            <a:ext cx="960120" cy="44805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91456" y="1097280"/>
            <a:ext cx="8869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Impact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715000" y="1042416"/>
            <a:ext cx="1143000" cy="44805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51576" y="1097280"/>
            <a:ext cx="10698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Priority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502920" y="1490472"/>
            <a:ext cx="320040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9496" y="1536192"/>
            <a:ext cx="31272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F1F1F"/>
                </a:solidFill>
              </a:rPr>
              <a:t>Weekly manual backups + no DR plan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703320" y="1490472"/>
            <a:ext cx="10515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739896" y="1536192"/>
            <a:ext cx="978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1F1F"/>
                </a:solidFill>
              </a:rPr>
              <a:t>High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754880" y="1490472"/>
            <a:ext cx="96012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91456" y="1536192"/>
            <a:ext cx="8869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1F1F"/>
                </a:solidFill>
              </a:rPr>
              <a:t>High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715000" y="1490472"/>
            <a:ext cx="114300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51576" y="1536192"/>
            <a:ext cx="10698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1F1F"/>
                </a:solidFill>
              </a:rPr>
              <a:t>Critical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02920" y="1938528"/>
            <a:ext cx="3200400" cy="448056"/>
          </a:xfrm>
          <a:prstGeom prst="rect">
            <a:avLst/>
          </a:prstGeom>
          <a:solidFill>
            <a:srgbClr val="F3F6FA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9496" y="1984248"/>
            <a:ext cx="31272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F1F1F"/>
                </a:solidFill>
              </a:rPr>
              <a:t>Aging servers with limited redundancy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703320" y="1938528"/>
            <a:ext cx="1051560" cy="448056"/>
          </a:xfrm>
          <a:prstGeom prst="rect">
            <a:avLst/>
          </a:prstGeom>
          <a:solidFill>
            <a:srgbClr val="F3F6FA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39896" y="1984248"/>
            <a:ext cx="978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1F1F"/>
                </a:solidFill>
              </a:rPr>
              <a:t>High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754880" y="1938528"/>
            <a:ext cx="960120" cy="448056"/>
          </a:xfrm>
          <a:prstGeom prst="rect">
            <a:avLst/>
          </a:prstGeom>
          <a:solidFill>
            <a:srgbClr val="F3F6FA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91456" y="1984248"/>
            <a:ext cx="8869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1F1F"/>
                </a:solidFill>
              </a:rPr>
              <a:t>High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715000" y="1938528"/>
            <a:ext cx="1143000" cy="448056"/>
          </a:xfrm>
          <a:prstGeom prst="rect">
            <a:avLst/>
          </a:prstGeom>
          <a:solidFill>
            <a:srgbClr val="F3F6FA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751576" y="1984248"/>
            <a:ext cx="10698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1F1F"/>
                </a:solidFill>
              </a:rPr>
              <a:t>Critical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02920" y="2386584"/>
            <a:ext cx="320040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9496" y="2432304"/>
            <a:ext cx="31272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F1F1F"/>
                </a:solidFill>
              </a:rPr>
              <a:t>Limited cybersecurity controls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703320" y="2386584"/>
            <a:ext cx="10515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739896" y="2432304"/>
            <a:ext cx="978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1F1F"/>
                </a:solidFill>
              </a:rPr>
              <a:t>High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754880" y="2386584"/>
            <a:ext cx="96012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91456" y="2432304"/>
            <a:ext cx="8869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1F1F"/>
                </a:solidFill>
              </a:rPr>
              <a:t>High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715000" y="2386584"/>
            <a:ext cx="114300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751576" y="2432304"/>
            <a:ext cx="10698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1F1F"/>
                </a:solidFill>
              </a:rPr>
              <a:t>Critical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02920" y="2834640"/>
            <a:ext cx="3200400" cy="448056"/>
          </a:xfrm>
          <a:prstGeom prst="rect">
            <a:avLst/>
          </a:prstGeom>
          <a:solidFill>
            <a:srgbClr val="F3F6FA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39496" y="2880360"/>
            <a:ext cx="31272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F1F1F"/>
                </a:solidFill>
              </a:rPr>
              <a:t>Single HQ internet connection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703320" y="2834640"/>
            <a:ext cx="1051560" cy="448056"/>
          </a:xfrm>
          <a:prstGeom prst="rect">
            <a:avLst/>
          </a:prstGeom>
          <a:solidFill>
            <a:srgbClr val="F3F6FA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739896" y="2880360"/>
            <a:ext cx="978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1F1F"/>
                </a:solidFill>
              </a:rPr>
              <a:t>Medium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754880" y="2834640"/>
            <a:ext cx="960120" cy="448056"/>
          </a:xfrm>
          <a:prstGeom prst="rect">
            <a:avLst/>
          </a:prstGeom>
          <a:solidFill>
            <a:srgbClr val="F3F6FA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91456" y="2880360"/>
            <a:ext cx="8869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1F1F"/>
                </a:solidFill>
              </a:rPr>
              <a:t>High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715000" y="2834640"/>
            <a:ext cx="1143000" cy="448056"/>
          </a:xfrm>
          <a:prstGeom prst="rect">
            <a:avLst/>
          </a:prstGeom>
          <a:solidFill>
            <a:srgbClr val="F3F6FA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751576" y="2880360"/>
            <a:ext cx="10698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1F1F"/>
                </a:solidFill>
              </a:rPr>
              <a:t>High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02920" y="3282696"/>
            <a:ext cx="320040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39496" y="3328416"/>
            <a:ext cx="31272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F1F1F"/>
                </a:solidFill>
              </a:rPr>
              <a:t>Frequent performance complaints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703320" y="3282696"/>
            <a:ext cx="10515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739896" y="3328416"/>
            <a:ext cx="978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1F1F"/>
                </a:solidFill>
              </a:rPr>
              <a:t>High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754880" y="3282696"/>
            <a:ext cx="96012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791456" y="3328416"/>
            <a:ext cx="8869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1F1F"/>
                </a:solidFill>
              </a:rPr>
              <a:t>Medium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715000" y="3282696"/>
            <a:ext cx="114300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751576" y="3328416"/>
            <a:ext cx="10698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1F1F"/>
                </a:solidFill>
              </a:rPr>
              <a:t>High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02920" y="3730752"/>
            <a:ext cx="3200400" cy="448056"/>
          </a:xfrm>
          <a:prstGeom prst="rect">
            <a:avLst/>
          </a:prstGeom>
          <a:solidFill>
            <a:srgbClr val="F3F6FA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39496" y="3776472"/>
            <a:ext cx="31272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F1F1F"/>
                </a:solidFill>
              </a:rPr>
              <a:t>Growing web portal on limited infrastructure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3703320" y="3730752"/>
            <a:ext cx="1051560" cy="448056"/>
          </a:xfrm>
          <a:prstGeom prst="rect">
            <a:avLst/>
          </a:prstGeom>
          <a:solidFill>
            <a:srgbClr val="F3F6FA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739896" y="3776472"/>
            <a:ext cx="978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1F1F"/>
                </a:solidFill>
              </a:rPr>
              <a:t>Medium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754880" y="3730752"/>
            <a:ext cx="960120" cy="448056"/>
          </a:xfrm>
          <a:prstGeom prst="rect">
            <a:avLst/>
          </a:prstGeom>
          <a:solidFill>
            <a:srgbClr val="F3F6FA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4791456" y="3776472"/>
            <a:ext cx="8869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1F1F"/>
                </a:solidFill>
              </a:rPr>
              <a:t>High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715000" y="3730752"/>
            <a:ext cx="1143000" cy="448056"/>
          </a:xfrm>
          <a:prstGeom prst="rect">
            <a:avLst/>
          </a:prstGeom>
          <a:solidFill>
            <a:srgbClr val="F3F6FA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751576" y="3776472"/>
            <a:ext cx="10698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1F1F"/>
                </a:solidFill>
              </a:rPr>
              <a:t>High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02920" y="4178808"/>
            <a:ext cx="320040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39496" y="4224528"/>
            <a:ext cx="31272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F1F1F"/>
                </a:solidFill>
              </a:rPr>
              <a:t>Small IT team / limited coverage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703320" y="4178808"/>
            <a:ext cx="105156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739896" y="4224528"/>
            <a:ext cx="978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1F1F"/>
                </a:solidFill>
              </a:rPr>
              <a:t>Medium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754880" y="4178808"/>
            <a:ext cx="96012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4791456" y="4224528"/>
            <a:ext cx="8869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1F1F"/>
                </a:solidFill>
              </a:rPr>
              <a:t>Medium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5715000" y="4178808"/>
            <a:ext cx="1143000" cy="4480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751576" y="4224528"/>
            <a:ext cx="106984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1F1F1F"/>
                </a:solidFill>
              </a:rPr>
              <a:t>Medium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7360920" y="1097280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4E79"/>
                </a:solidFill>
              </a:rPr>
              <a:t>Priority Score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7360920" y="1463040"/>
            <a:ext cx="1097280" cy="2965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F1F1F"/>
                </a:solidFill>
              </a:rPr>
              <a:t>Backup/DR</a:t>
            </a:r>
            <a:endParaRPr lang="en-US" sz="770" dirty="0"/>
          </a:p>
        </p:txBody>
      </p:sp>
      <p:sp>
        <p:nvSpPr>
          <p:cNvPr id="70" name="Shape 68"/>
          <p:cNvSpPr/>
          <p:nvPr/>
        </p:nvSpPr>
        <p:spPr>
          <a:xfrm>
            <a:off x="8595360" y="1490472"/>
            <a:ext cx="2331720" cy="241663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11109960" y="1463040"/>
            <a:ext cx="274320" cy="296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4E79"/>
                </a:solidFill>
              </a:rPr>
              <a:t>10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7360920" y="1924159"/>
            <a:ext cx="1097280" cy="2965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F1F1F"/>
                </a:solidFill>
              </a:rPr>
              <a:t>Security</a:t>
            </a:r>
            <a:endParaRPr lang="en-US" sz="770" dirty="0"/>
          </a:p>
        </p:txBody>
      </p:sp>
      <p:sp>
        <p:nvSpPr>
          <p:cNvPr id="73" name="Shape 71"/>
          <p:cNvSpPr/>
          <p:nvPr/>
        </p:nvSpPr>
        <p:spPr>
          <a:xfrm>
            <a:off x="8595360" y="1951591"/>
            <a:ext cx="2331720" cy="241663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11109960" y="1924159"/>
            <a:ext cx="274320" cy="296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4E79"/>
                </a:solidFill>
              </a:rPr>
              <a:t>10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360920" y="2385278"/>
            <a:ext cx="1097280" cy="2965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F1F1F"/>
                </a:solidFill>
              </a:rPr>
              <a:t>Servers</a:t>
            </a:r>
            <a:endParaRPr lang="en-US" sz="770" dirty="0"/>
          </a:p>
        </p:txBody>
      </p:sp>
      <p:sp>
        <p:nvSpPr>
          <p:cNvPr id="76" name="Shape 74"/>
          <p:cNvSpPr/>
          <p:nvPr/>
        </p:nvSpPr>
        <p:spPr>
          <a:xfrm>
            <a:off x="8595360" y="2412710"/>
            <a:ext cx="2098548" cy="241663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11109960" y="2385278"/>
            <a:ext cx="274320" cy="296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4E79"/>
                </a:solidFill>
              </a:rPr>
              <a:t>9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360920" y="2846397"/>
            <a:ext cx="1097280" cy="2965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F1F1F"/>
                </a:solidFill>
              </a:rPr>
              <a:t>ISP</a:t>
            </a:r>
            <a:endParaRPr lang="en-US" sz="770" dirty="0"/>
          </a:p>
        </p:txBody>
      </p:sp>
      <p:sp>
        <p:nvSpPr>
          <p:cNvPr id="79" name="Shape 77"/>
          <p:cNvSpPr/>
          <p:nvPr/>
        </p:nvSpPr>
        <p:spPr>
          <a:xfrm>
            <a:off x="8595360" y="2873829"/>
            <a:ext cx="1865376" cy="241663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11109960" y="2846397"/>
            <a:ext cx="274320" cy="296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4E79"/>
                </a:solidFill>
              </a:rPr>
              <a:t>8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7360920" y="3307515"/>
            <a:ext cx="1097280" cy="2965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F1F1F"/>
                </a:solidFill>
              </a:rPr>
              <a:t>Performance</a:t>
            </a:r>
            <a:endParaRPr lang="en-US" sz="770" dirty="0"/>
          </a:p>
        </p:txBody>
      </p:sp>
      <p:sp>
        <p:nvSpPr>
          <p:cNvPr id="82" name="Shape 80"/>
          <p:cNvSpPr/>
          <p:nvPr/>
        </p:nvSpPr>
        <p:spPr>
          <a:xfrm>
            <a:off x="8595360" y="3334947"/>
            <a:ext cx="1865376" cy="241663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11109960" y="3307515"/>
            <a:ext cx="274320" cy="296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4E79"/>
                </a:solidFill>
              </a:rPr>
              <a:t>8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7360920" y="3768634"/>
            <a:ext cx="1097280" cy="2965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F1F1F"/>
                </a:solidFill>
              </a:rPr>
              <a:t>Portal</a:t>
            </a:r>
            <a:endParaRPr lang="en-US" sz="770" dirty="0"/>
          </a:p>
        </p:txBody>
      </p:sp>
      <p:sp>
        <p:nvSpPr>
          <p:cNvPr id="85" name="Shape 83"/>
          <p:cNvSpPr/>
          <p:nvPr/>
        </p:nvSpPr>
        <p:spPr>
          <a:xfrm>
            <a:off x="8595360" y="3796066"/>
            <a:ext cx="1632204" cy="241663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11109960" y="3768634"/>
            <a:ext cx="274320" cy="296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4E79"/>
                </a:solidFill>
              </a:rPr>
              <a:t>7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7360920" y="4229753"/>
            <a:ext cx="1097280" cy="2965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70" dirty="0">
                <a:solidFill>
                  <a:srgbClr val="1F1F1F"/>
                </a:solidFill>
              </a:rPr>
              <a:t>Staff</a:t>
            </a:r>
            <a:endParaRPr lang="en-US" sz="770" dirty="0"/>
          </a:p>
        </p:txBody>
      </p:sp>
      <p:sp>
        <p:nvSpPr>
          <p:cNvPr id="88" name="Shape 86"/>
          <p:cNvSpPr/>
          <p:nvPr/>
        </p:nvSpPr>
        <p:spPr>
          <a:xfrm>
            <a:off x="8595360" y="4257185"/>
            <a:ext cx="1399032" cy="241663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11109960" y="4229753"/>
            <a:ext cx="274320" cy="296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F4E79"/>
                </a:solidFill>
              </a:rPr>
              <a:t>6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7406640" y="4892040"/>
            <a:ext cx="4114800" cy="512064"/>
          </a:xfrm>
          <a:prstGeom prst="roundRect">
            <a:avLst>
              <a:gd name="adj" fmla="val 14286"/>
            </a:avLst>
          </a:prstGeom>
          <a:solidFill>
            <a:srgbClr val="EAF2F8"/>
          </a:solidFill>
          <a:ln w="12700">
            <a:solidFill>
              <a:srgbClr val="B7C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7571232" y="5029200"/>
            <a:ext cx="3794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1F4E79"/>
                </a:solidFill>
              </a:rPr>
              <a:t>Score logic: likelihood + severity + business impact. 10 means fund immediately.</a:t>
            </a:r>
            <a:endParaRPr lang="en-US" sz="960" dirty="0"/>
          </a:p>
        </p:txBody>
      </p:sp>
      <p:sp>
        <p:nvSpPr>
          <p:cNvPr id="9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</a:rPr>
              <a:t>Technology Recommendations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38328" y="621792"/>
            <a:ext cx="11247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</a:rPr>
              <a:t>Prioritize controls that reduce downtime, breach exposure, and recovery risk.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005840"/>
            <a:ext cx="51663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94360" y="1005840"/>
            <a:ext cx="109728" cy="1060704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5528" y="1115568"/>
            <a:ext cx="4873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F4E79"/>
                </a:solidFill>
              </a:rPr>
              <a:t>Server Infrastructure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795528" y="1183949"/>
            <a:ext cx="483717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1F1F"/>
                </a:solidFill>
              </a:rPr>
              <a:t>Replace aging hardware with a two-host virtualized cluster and failover for local critical workloads.</a:t>
            </a:r>
            <a:endParaRPr lang="en-US" sz="890" dirty="0"/>
          </a:p>
        </p:txBody>
      </p:sp>
      <p:sp>
        <p:nvSpPr>
          <p:cNvPr id="8" name="Shape 6"/>
          <p:cNvSpPr/>
          <p:nvPr/>
        </p:nvSpPr>
        <p:spPr>
          <a:xfrm>
            <a:off x="6263640" y="1005840"/>
            <a:ext cx="51663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63640" y="1005840"/>
            <a:ext cx="109728" cy="1060704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64808" y="1115568"/>
            <a:ext cx="4873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F4E79"/>
                </a:solidFill>
              </a:rPr>
              <a:t>Storage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6464808" y="1110996"/>
            <a:ext cx="483717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1F1F"/>
                </a:solidFill>
              </a:rPr>
              <a:t>Add centralized storage, snapshots, capacity alerts, and a 25% free-space policy.</a:t>
            </a:r>
            <a:endParaRPr lang="en-US" sz="890" dirty="0"/>
          </a:p>
        </p:txBody>
      </p:sp>
      <p:sp>
        <p:nvSpPr>
          <p:cNvPr id="12" name="Shape 10"/>
          <p:cNvSpPr/>
          <p:nvPr/>
        </p:nvSpPr>
        <p:spPr>
          <a:xfrm>
            <a:off x="594360" y="2450592"/>
            <a:ext cx="51663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94360" y="2450592"/>
            <a:ext cx="109728" cy="1060704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5528" y="2560320"/>
            <a:ext cx="4873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F4E79"/>
                </a:solidFill>
              </a:rPr>
              <a:t>Networking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795528" y="2615184"/>
            <a:ext cx="483717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1F1F"/>
                </a:solidFill>
              </a:rPr>
              <a:t>Upgrade firewall, add secondary ISP, segment traffic with VLANs, and monitor network health.</a:t>
            </a:r>
            <a:endParaRPr lang="en-US" sz="890" dirty="0"/>
          </a:p>
        </p:txBody>
      </p:sp>
      <p:sp>
        <p:nvSpPr>
          <p:cNvPr id="16" name="Shape 14"/>
          <p:cNvSpPr/>
          <p:nvPr/>
        </p:nvSpPr>
        <p:spPr>
          <a:xfrm>
            <a:off x="6300216" y="2450592"/>
            <a:ext cx="51663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63640" y="2450592"/>
            <a:ext cx="109728" cy="1060704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64808" y="2560320"/>
            <a:ext cx="4873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F4E79"/>
                </a:solidFill>
              </a:rPr>
              <a:t>Security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6483096" y="2560320"/>
            <a:ext cx="483717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1F1F"/>
                </a:solidFill>
              </a:rPr>
              <a:t>Deploy Microsoft 365 Business Premium for MFA, Defender, Intune, and access policies.</a:t>
            </a:r>
            <a:endParaRPr lang="en-US" sz="890" dirty="0"/>
          </a:p>
        </p:txBody>
      </p:sp>
      <p:sp>
        <p:nvSpPr>
          <p:cNvPr id="20" name="Shape 18"/>
          <p:cNvSpPr/>
          <p:nvPr/>
        </p:nvSpPr>
        <p:spPr>
          <a:xfrm>
            <a:off x="594360" y="3895344"/>
            <a:ext cx="51663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94360" y="3895344"/>
            <a:ext cx="109728" cy="1060704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95528" y="4005072"/>
            <a:ext cx="4873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F4E79"/>
                </a:solidFill>
              </a:rPr>
              <a:t>Password Management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813816" y="4122354"/>
            <a:ext cx="483717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1F1F"/>
                </a:solidFill>
              </a:rPr>
              <a:t>Remove shared admin passwords; use named admin accounts, least privilege, and a password vault.</a:t>
            </a:r>
            <a:endParaRPr lang="en-US" sz="890" dirty="0"/>
          </a:p>
        </p:txBody>
      </p:sp>
      <p:sp>
        <p:nvSpPr>
          <p:cNvPr id="24" name="Shape 22"/>
          <p:cNvSpPr/>
          <p:nvPr/>
        </p:nvSpPr>
        <p:spPr>
          <a:xfrm>
            <a:off x="6263640" y="3895344"/>
            <a:ext cx="51663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63640" y="3895344"/>
            <a:ext cx="109728" cy="106070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64808" y="4005072"/>
            <a:ext cx="4873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F4E79"/>
                </a:solidFill>
              </a:rPr>
              <a:t>Backup &amp; DR</a:t>
            </a:r>
            <a:endParaRPr lang="en-US" sz="1240" dirty="0"/>
          </a:p>
        </p:txBody>
      </p:sp>
      <p:sp>
        <p:nvSpPr>
          <p:cNvPr id="27" name="Text 25"/>
          <p:cNvSpPr/>
          <p:nvPr/>
        </p:nvSpPr>
        <p:spPr>
          <a:xfrm>
            <a:off x="6464808" y="4059936"/>
            <a:ext cx="483717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1F1F"/>
                </a:solidFill>
              </a:rPr>
              <a:t>Automate daily backups, keep immutable/offsite copies, document DR runbook, and test restores monthly.</a:t>
            </a:r>
            <a:endParaRPr lang="en-US" sz="89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30" name="Shape 18">
            <a:extLst>
              <a:ext uri="{FF2B5EF4-FFF2-40B4-BE49-F238E27FC236}">
                <a16:creationId xmlns:a16="http://schemas.microsoft.com/office/drawing/2014/main" id="{5F171BF2-98D6-ACCB-B377-63C1E8314BB0}"/>
              </a:ext>
            </a:extLst>
          </p:cNvPr>
          <p:cNvSpPr/>
          <p:nvPr/>
        </p:nvSpPr>
        <p:spPr>
          <a:xfrm>
            <a:off x="594360" y="5175504"/>
            <a:ext cx="5166360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1" name="Shape 19">
            <a:extLst>
              <a:ext uri="{FF2B5EF4-FFF2-40B4-BE49-F238E27FC236}">
                <a16:creationId xmlns:a16="http://schemas.microsoft.com/office/drawing/2014/main" id="{5C66B25E-543A-4709-ED6A-5C84A066E471}"/>
              </a:ext>
            </a:extLst>
          </p:cNvPr>
          <p:cNvSpPr/>
          <p:nvPr/>
        </p:nvSpPr>
        <p:spPr>
          <a:xfrm>
            <a:off x="594360" y="5175504"/>
            <a:ext cx="109728" cy="1060704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D0FAF58B-1B40-99CB-1B77-13CD9BE808E9}"/>
              </a:ext>
            </a:extLst>
          </p:cNvPr>
          <p:cNvSpPr/>
          <p:nvPr/>
        </p:nvSpPr>
        <p:spPr>
          <a:xfrm>
            <a:off x="795528" y="5256607"/>
            <a:ext cx="4873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F4E79"/>
                </a:solidFill>
              </a:rPr>
              <a:t>Employee Awareness Training</a:t>
            </a:r>
            <a:endParaRPr lang="en-US" sz="1240" dirty="0"/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76DFA7EF-7443-F406-B959-247D299E8766}"/>
              </a:ext>
            </a:extLst>
          </p:cNvPr>
          <p:cNvSpPr/>
          <p:nvPr/>
        </p:nvSpPr>
        <p:spPr>
          <a:xfrm>
            <a:off x="777240" y="5585791"/>
            <a:ext cx="4873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4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174E751-88CD-61A6-AC43-468DC49DE2F5}"/>
              </a:ext>
            </a:extLst>
          </p:cNvPr>
          <p:cNvSpPr txBox="1"/>
          <p:nvPr/>
        </p:nvSpPr>
        <p:spPr>
          <a:xfrm>
            <a:off x="1359673" y="5557166"/>
            <a:ext cx="866692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4CDC9D25-5B0E-DD7B-DC4F-03B484C86948}"/>
              </a:ext>
            </a:extLst>
          </p:cNvPr>
          <p:cNvSpPr/>
          <p:nvPr/>
        </p:nvSpPr>
        <p:spPr>
          <a:xfrm>
            <a:off x="795528" y="5440680"/>
            <a:ext cx="483717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900" dirty="0"/>
              <a:t>Add quarterly cybersecurity awareness training focused on phishing, password reuse, suspicious links, and reporting security incidents.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</a:rPr>
              <a:t>Cloud Strategy Evaluation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38328" y="621792"/>
            <a:ext cx="11247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</a:rPr>
              <a:t>On-premise, cloud, and hybrid were evaluated across business and technical factors.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24128"/>
            <a:ext cx="105156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9496" y="1078992"/>
            <a:ext cx="978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FFFFFF"/>
                </a:solidFill>
              </a:rPr>
              <a:t>Factor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1554480" y="1024128"/>
            <a:ext cx="27432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91056" y="1078992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FFFFFF"/>
                </a:solidFill>
              </a:rPr>
              <a:t>On-Premise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4297680" y="1024128"/>
            <a:ext cx="274320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334256" y="1078992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FFFFFF"/>
                </a:solidFill>
              </a:rPr>
              <a:t>Cloud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7040880" y="1024128"/>
            <a:ext cx="4434840" cy="65836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077456" y="1078992"/>
            <a:ext cx="4361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b="1" dirty="0">
                <a:solidFill>
                  <a:srgbClr val="FFFFFF"/>
                </a:solidFill>
              </a:rPr>
              <a:t>Hybrid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502920" y="1682496"/>
            <a:ext cx="1051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9496" y="1728216"/>
            <a:ext cx="978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F1F1F"/>
                </a:solidFill>
              </a:rPr>
              <a:t>Cost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1554480" y="1682496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91056" y="1728216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F1F1F"/>
                </a:solidFill>
              </a:rPr>
              <a:t>High upfront hardware and facility resilience costs.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4297680" y="1682496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334256" y="1728216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F1F1F"/>
                </a:solidFill>
              </a:rPr>
              <a:t>Lower capital cost, but recurring usage/subscription costs.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7040880" y="1682496"/>
            <a:ext cx="44348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077456" y="1728216"/>
            <a:ext cx="4361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F1F1F"/>
                </a:solidFill>
              </a:rPr>
              <a:t>Balanced capital refresh + targeted cloud spending.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502920" y="2340864"/>
            <a:ext cx="1051560" cy="658368"/>
          </a:xfrm>
          <a:prstGeom prst="rect">
            <a:avLst/>
          </a:prstGeom>
          <a:solidFill>
            <a:srgbClr val="F3F6FA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39496" y="2386584"/>
            <a:ext cx="978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F1F1F"/>
                </a:solidFill>
              </a:rPr>
              <a:t>Security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1554480" y="2340864"/>
            <a:ext cx="2743200" cy="658368"/>
          </a:xfrm>
          <a:prstGeom prst="rect">
            <a:avLst/>
          </a:prstGeom>
          <a:solidFill>
            <a:srgbClr val="F3F6FA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591056" y="2386584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F1F1F"/>
                </a:solidFill>
              </a:rPr>
              <a:t>Full control, but hard for a small team to monitor.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4297680" y="2340864"/>
            <a:ext cx="2743200" cy="658368"/>
          </a:xfrm>
          <a:prstGeom prst="rect">
            <a:avLst/>
          </a:prstGeom>
          <a:solidFill>
            <a:srgbClr val="F3F6FA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334256" y="2386584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F1F1F"/>
                </a:solidFill>
              </a:rPr>
              <a:t>Strong tools, but misconfiguration risk remains.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7040880" y="2340864"/>
            <a:ext cx="4434840" cy="658368"/>
          </a:xfrm>
          <a:prstGeom prst="rect">
            <a:avLst/>
          </a:prstGeom>
          <a:solidFill>
            <a:srgbClr val="F3F6FA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77456" y="2386584"/>
            <a:ext cx="4361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F1F1F"/>
                </a:solidFill>
              </a:rPr>
              <a:t>Cloud identity/security + local segmentation.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502920" y="2999232"/>
            <a:ext cx="1051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9496" y="3044952"/>
            <a:ext cx="978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F1F1F"/>
                </a:solidFill>
              </a:rPr>
              <a:t>Scalability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1554480" y="2999232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591056" y="3044952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F1F1F"/>
                </a:solidFill>
              </a:rPr>
              <a:t>Limited by purchased hardware.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4297680" y="2999232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334256" y="3044952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F1F1F"/>
                </a:solidFill>
              </a:rPr>
              <a:t>Best elasticity for portal growth.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7040880" y="2999232"/>
            <a:ext cx="44348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077456" y="3044952"/>
            <a:ext cx="4361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F1F1F"/>
                </a:solidFill>
              </a:rPr>
              <a:t>Scales portal/DR while keeping local operations stable.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502920" y="3657600"/>
            <a:ext cx="1051560" cy="658368"/>
          </a:xfrm>
          <a:prstGeom prst="rect">
            <a:avLst/>
          </a:prstGeom>
          <a:solidFill>
            <a:srgbClr val="F3F6FA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pPr algn="ctr"/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39496" y="3703320"/>
            <a:ext cx="978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F1F1F"/>
                </a:solidFill>
              </a:rPr>
              <a:t>Reliability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1554480" y="3657600"/>
            <a:ext cx="2743200" cy="658368"/>
          </a:xfrm>
          <a:prstGeom prst="rect">
            <a:avLst/>
          </a:prstGeom>
          <a:solidFill>
            <a:srgbClr val="F3F6FA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591056" y="370332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F1F1F"/>
                </a:solidFill>
              </a:rPr>
              <a:t>Requires duplicate hardware and sites.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4297680" y="3657600"/>
            <a:ext cx="2743200" cy="658368"/>
          </a:xfrm>
          <a:prstGeom prst="rect">
            <a:avLst/>
          </a:prstGeom>
          <a:solidFill>
            <a:srgbClr val="F3F6FA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334256" y="370332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F1F1F"/>
                </a:solidFill>
              </a:rPr>
              <a:t>Strong options, depends on internet and setup.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7040880" y="3657600"/>
            <a:ext cx="4434840" cy="658368"/>
          </a:xfrm>
          <a:prstGeom prst="rect">
            <a:avLst/>
          </a:prstGeom>
          <a:solidFill>
            <a:srgbClr val="F3F6FA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077456" y="3703320"/>
            <a:ext cx="4361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F1F1F"/>
                </a:solidFill>
              </a:rPr>
              <a:t>Local resilience + cloud backup/DR.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502920" y="4315968"/>
            <a:ext cx="1051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39496" y="4361688"/>
            <a:ext cx="978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F1F1F"/>
                </a:solidFill>
              </a:rPr>
              <a:t>Staffing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1554480" y="4315968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591056" y="436168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F1F1F"/>
                </a:solidFill>
              </a:rPr>
              <a:t>High burden on 3-person IT team.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4297680" y="4315968"/>
            <a:ext cx="27432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334256" y="4361688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F1F1F"/>
                </a:solidFill>
              </a:rPr>
              <a:t>Requires cloud/security/cost skills.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7040880" y="4315968"/>
            <a:ext cx="443484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7077456" y="4361688"/>
            <a:ext cx="4361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F1F1F"/>
                </a:solidFill>
              </a:rPr>
              <a:t>Reduces burden gradually with MSP/MSSP support.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868680" y="56875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0AD47"/>
                </a:solidFill>
              </a:rPr>
              <a:t>Recommended approach: HYBRID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892040" y="5751576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1F1F1F"/>
                </a:solidFill>
              </a:rPr>
              <a:t>Best balance of cost, security, scalability, reliability, and staffing practicality.</a:t>
            </a:r>
            <a:endParaRPr lang="en-US" sz="111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</a:rPr>
              <a:t>Recommended Hybrid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38328" y="621792"/>
            <a:ext cx="11247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</a:rPr>
              <a:t>Keep local operations stable while moving resilience and scalable services to the cloud.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3200400" cy="4251960"/>
          </a:xfrm>
          <a:prstGeom prst="roundRect">
            <a:avLst>
              <a:gd name="adj" fmla="val 2286"/>
            </a:avLst>
          </a:prstGeom>
          <a:solidFill>
            <a:srgbClr val="EAF2F8"/>
          </a:solidFill>
          <a:ln w="12700">
            <a:solidFill>
              <a:srgbClr val="B7C9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9"/>
                </a:solidFill>
              </a:rPr>
              <a:t>Local Core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265176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F1F"/>
                </a:solidFill>
              </a:rPr>
              <a:t>Virtualized server cluster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1F1F"/>
                </a:solidFill>
              </a:rPr>
              <a:t>Warehouse applications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1F1F"/>
                </a:solidFill>
              </a:rPr>
              <a:t>Local file/database services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1F1F"/>
                </a:solidFill>
              </a:rPr>
              <a:t>Segmented network + firewall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26280" y="1143000"/>
            <a:ext cx="3200400" cy="4251960"/>
          </a:xfrm>
          <a:prstGeom prst="roundRect">
            <a:avLst>
              <a:gd name="adj" fmla="val 2286"/>
            </a:avLst>
          </a:prstGeom>
          <a:solidFill>
            <a:srgbClr val="E2F0D9"/>
          </a:solidFill>
          <a:ln w="12700">
            <a:solidFill>
              <a:srgbClr val="B8D6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9204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0AD47"/>
                </a:solidFill>
              </a:rPr>
              <a:t>Cloud Services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00600" y="2057400"/>
            <a:ext cx="265176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F1F"/>
                </a:solidFill>
              </a:rPr>
              <a:t>Microsoft 365 security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1F1F"/>
                </a:solidFill>
              </a:rPr>
              <a:t>Cloud backup copies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1F1F"/>
                </a:solidFill>
              </a:rPr>
              <a:t>AWS Elastic Disaster Recovery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1F1F"/>
                </a:solidFill>
              </a:rPr>
              <a:t>Scalable portal hosting later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412480" y="1143000"/>
            <a:ext cx="3200400" cy="4251960"/>
          </a:xfrm>
          <a:prstGeom prst="roundRect">
            <a:avLst>
              <a:gd name="adj" fmla="val 2286"/>
            </a:avLst>
          </a:prstGeom>
          <a:solidFill>
            <a:srgbClr val="FCE4D6"/>
          </a:solidFill>
          <a:ln w="12700">
            <a:solidFill>
              <a:srgbClr val="F4B1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77824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D7D31"/>
                </a:solidFill>
              </a:rPr>
              <a:t>Managed Support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0" y="2057400"/>
            <a:ext cx="265176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F1F1F"/>
                </a:solidFill>
              </a:rPr>
              <a:t>MSP/MSSP assistance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1F1F"/>
                </a:solidFill>
              </a:rPr>
              <a:t>Firewall and backup oversight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1F1F"/>
                </a:solidFill>
              </a:rPr>
              <a:t>SIEM alerting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1F1F"/>
                </a:solidFill>
              </a:rPr>
              <a:t>Patch and documentation support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77640" y="2907792"/>
            <a:ext cx="347472" cy="457200"/>
          </a:xfrm>
          <a:prstGeom prst="chevron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863840" y="2907792"/>
            <a:ext cx="347472" cy="457200"/>
          </a:xfrm>
          <a:prstGeom prst="chevron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5806440"/>
            <a:ext cx="10149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F4E79"/>
                </a:solidFill>
              </a:rPr>
              <a:t>Hybrid gives NorthStar local control where needed and cloud resilience where it reduces risk fastest.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</a:rPr>
              <a:t>Implementation Roadmap &amp; Cost Anchors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38328" y="621792"/>
            <a:ext cx="11247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</a:rPr>
              <a:t>The plan funds the highest business risks first, then modernizes in phases.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115568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651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0000"/>
                </a:solidFill>
              </a:rPr>
              <a:t>0-30 Days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828800"/>
            <a:ext cx="27889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1F1F"/>
                </a:solidFill>
              </a:rPr>
              <a:t>MFA, remove shared admin passwords, daily backups, asset inventory, basic monitoring, firewall rule review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26280" y="1115568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651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754880" y="13258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D7D31"/>
                </a:solidFill>
              </a:rPr>
              <a:t>31-90 Days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00600" y="1828800"/>
            <a:ext cx="27889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1F1F"/>
                </a:solidFill>
              </a:rPr>
              <a:t>Virtualized server cluster, firewall upgrade, secondary ISP, VLAN segmentation, endpoint/security logging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366760" y="1115568"/>
            <a:ext cx="3337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6510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95360" y="13258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0AD47"/>
                </a:solidFill>
              </a:rPr>
              <a:t>3-12 Months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41080" y="1828800"/>
            <a:ext cx="278892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1F1F"/>
                </a:solidFill>
              </a:rPr>
              <a:t>Offsite replication, AWS DRS for critical servers, tested DR runbook, scalable cloud portal plan, SIEM/MSSP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9"/>
                </a:solidFill>
              </a:rPr>
              <a:t>Planning cost anchors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4160520"/>
            <a:ext cx="310896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22376" y="421538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FFFFFF"/>
                </a:solidFill>
              </a:rPr>
              <a:t>Service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3794760" y="4160520"/>
            <a:ext cx="768096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31336" y="4215384"/>
            <a:ext cx="7607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b="1" dirty="0">
                <a:solidFill>
                  <a:srgbClr val="FFFFFF"/>
                </a:solidFill>
              </a:rPr>
              <a:t>Planning anchor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685800" y="4507992"/>
            <a:ext cx="3108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22376" y="4553712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F1F1F"/>
                </a:solidFill>
              </a:rPr>
              <a:t>Microsoft 365 Business Premium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3794760" y="4507992"/>
            <a:ext cx="7680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31336" y="4553712"/>
            <a:ext cx="7607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F1F1F"/>
                </a:solidFill>
              </a:rPr>
              <a:t>150 users x $22 = about $3,300/month, paid yearly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685800" y="4855464"/>
            <a:ext cx="3108960" cy="347472"/>
          </a:xfrm>
          <a:prstGeom prst="rect">
            <a:avLst/>
          </a:prstGeom>
          <a:solidFill>
            <a:srgbClr val="F3F6FA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22376" y="4901184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F1F1F"/>
                </a:solidFill>
              </a:rPr>
              <a:t>AWS DRS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3794760" y="4855464"/>
            <a:ext cx="7680960" cy="347472"/>
          </a:xfrm>
          <a:prstGeom prst="rect">
            <a:avLst/>
          </a:prstGeom>
          <a:solidFill>
            <a:srgbClr val="F3F6FA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831336" y="4901184"/>
            <a:ext cx="7607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F1F1F"/>
                </a:solidFill>
              </a:rPr>
              <a:t>5 servers x 730 hours x $0.028 = about $102/month before storage/compute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685800" y="5202936"/>
            <a:ext cx="3108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2376" y="5248656"/>
            <a:ext cx="3035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F1F1F"/>
                </a:solidFill>
              </a:rPr>
              <a:t>Cloud backup storage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3794760" y="5202936"/>
            <a:ext cx="76809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6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831336" y="5248656"/>
            <a:ext cx="7607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1F1F1F"/>
                </a:solidFill>
              </a:rPr>
              <a:t>5 TB x $0.05/GB-month = about $256/month before retention/transfer</a:t>
            </a:r>
            <a:endParaRPr lang="en-US" sz="870" dirty="0"/>
          </a:p>
        </p:txBody>
      </p:sp>
      <p:sp>
        <p:nvSpPr>
          <p:cNvPr id="30" name="Text 28"/>
          <p:cNvSpPr/>
          <p:nvPr/>
        </p:nvSpPr>
        <p:spPr>
          <a:xfrm>
            <a:off x="731520" y="571500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</a:rPr>
              <a:t>Cost anchors are not a final quote; hardware, MSP/MSSP, storage retention, transfers, and recovery drills require vendor estimates.</a:t>
            </a:r>
            <a:endParaRPr lang="en-US" sz="10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E79"/>
                </a:solidFill>
              </a:rPr>
              <a:t>Executive 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38328" y="621792"/>
            <a:ext cx="11247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</a:rPr>
              <a:t>Modernization should be treated as business resilience, not only an IT upgrade.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143000"/>
            <a:ext cx="109728" cy="27432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1252728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F4E79"/>
                </a:solidFill>
              </a:rPr>
              <a:t>Major risks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804672" y="603504"/>
            <a:ext cx="3099816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1F1F"/>
                </a:solidFill>
              </a:rPr>
              <a:t>Backups are too weak, servers are old, cybersecurity controls are limited, HQ has one internet connection, and the web portal is growing.</a:t>
            </a:r>
            <a:endParaRPr lang="en-US" sz="890" dirty="0"/>
          </a:p>
        </p:txBody>
      </p:sp>
      <p:sp>
        <p:nvSpPr>
          <p:cNvPr id="8" name="Shape 6"/>
          <p:cNvSpPr/>
          <p:nvPr/>
        </p:nvSpPr>
        <p:spPr>
          <a:xfrm>
            <a:off x="4389120" y="1138428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89120" y="1143000"/>
            <a:ext cx="109728" cy="274320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90288" y="1252728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F4E79"/>
                </a:solidFill>
              </a:rPr>
              <a:t>Recommended strategy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4576572" y="576072"/>
            <a:ext cx="3099816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1F1F"/>
                </a:solidFill>
              </a:rPr>
              <a:t>Adopt phased hybrid modernization: stabilize local operations and use cloud for identity, backup, disaster recovery, monitoring, and portal scale.</a:t>
            </a:r>
            <a:endParaRPr lang="en-US" sz="890" dirty="0"/>
          </a:p>
        </p:txBody>
      </p:sp>
      <p:sp>
        <p:nvSpPr>
          <p:cNvPr id="12" name="Shape 10"/>
          <p:cNvSpPr/>
          <p:nvPr/>
        </p:nvSpPr>
        <p:spPr>
          <a:xfrm>
            <a:off x="8138160" y="1143000"/>
            <a:ext cx="34290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38160" y="1143000"/>
            <a:ext cx="109728" cy="2743200"/>
          </a:xfrm>
          <a:prstGeom prst="rect">
            <a:avLst/>
          </a:prstGeom>
          <a:solidFill>
            <a:srgbClr val="2F5597"/>
          </a:solidFill>
          <a:ln w="12700">
            <a:solidFill>
              <a:srgbClr val="2F559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39328" y="1252728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40" b="1" dirty="0">
                <a:solidFill>
                  <a:srgbClr val="1F4E79"/>
                </a:solidFill>
              </a:rPr>
              <a:t>Expected benefits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8357616" y="576072"/>
            <a:ext cx="3099816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1F1F1F"/>
                </a:solidFill>
              </a:rPr>
              <a:t>Lower downtime risk, faster recovery, better employee productivity, stronger security, and a scalable foundation for growth.</a:t>
            </a:r>
            <a:endParaRPr lang="en-US" sz="890" dirty="0"/>
          </a:p>
        </p:txBody>
      </p:sp>
      <p:sp>
        <p:nvSpPr>
          <p:cNvPr id="16" name="Text 14"/>
          <p:cNvSpPr/>
          <p:nvPr/>
        </p:nvSpPr>
        <p:spPr>
          <a:xfrm>
            <a:off x="777240" y="44348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Selected APA sources used in the report: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4800600"/>
            <a:ext cx="1069848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F1F1F"/>
                </a:solidFill>
              </a:rPr>
              <a:t>Please refer to word doc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45920" y="5623560"/>
            <a:ext cx="8869680" cy="384048"/>
          </a:xfrm>
          <a:prstGeom prst="roundRect">
            <a:avLst>
              <a:gd name="adj" fmla="val 19048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874520" y="5733288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Final decision: Hybrid infrastructure is the best fit for NorthStar Distribution Services.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1191</Words>
  <Application>Microsoft Macintosh PowerPoint</Application>
  <PresentationFormat>Widescreen</PresentationFormat>
  <Paragraphs>196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Management Information Systems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Infrastructure Assessment &amp; Modernization Plan</dc:title>
  <dc:subject/>
  <dc:creator>Juan Barrera</dc:creator>
  <cp:keywords/>
  <dc:description/>
  <cp:lastModifiedBy>Barrera, Juan J</cp:lastModifiedBy>
  <cp:revision>4</cp:revision>
  <dcterms:created xsi:type="dcterms:W3CDTF">2026-06-08T21:39:47Z</dcterms:created>
  <dcterms:modified xsi:type="dcterms:W3CDTF">2026-06-08T23:01:21Z</dcterms:modified>
  <cp:category/>
</cp:coreProperties>
</file>