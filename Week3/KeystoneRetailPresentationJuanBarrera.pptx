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5.xml" ContentType="application/vnd.openxmlformats-officedocument.presentationml.notesSlide+xml"/>
  <Override PartName="/ppt/charts/chart5.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5228"/>
    <p:restoredTop sz="94610"/>
  </p:normalViewPr>
  <p:slideViewPr>
    <p:cSldViewPr snapToGrid="0" snapToObjects="1">
      <p:cViewPr varScale="1">
        <p:scale>
          <a:sx n="72" d="100"/>
          <a:sy n="72" d="100"/>
        </p:scale>
        <p:origin x="224" y="17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00000"/>
                </a:solidFill>
                <a:latin typeface="Aptos Display"/>
              </a:defRPr>
            </a:pPr>
            <a:r>
              <a:rPr lang="en-US" sz="1500" b="0" i="0" u="none" strike="noStrike">
                <a:solidFill>
                  <a:srgbClr val="000000"/>
                </a:solidFill>
                <a:latin typeface="Aptos Display"/>
              </a:rPr>
              <a:t>Revenue by Region</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2F75B5"/>
            </a:solidFill>
            <a:effectLst/>
          </c:spPr>
          <c:invertIfNegative val="0"/>
          <c:dPt>
            <c:idx val="0"/>
            <c:invertIfNegative val="0"/>
            <c:bubble3D val="0"/>
            <c:extLst>
              <c:ext xmlns:c16="http://schemas.microsoft.com/office/drawing/2014/chart" uri="{C3380CC4-5D6E-409C-BE32-E72D297353CC}">
                <c16:uniqueId val="{00000001-8046-D546-A9D2-A749303F36B4}"/>
              </c:ext>
            </c:extLst>
          </c:dPt>
          <c:dPt>
            <c:idx val="1"/>
            <c:invertIfNegative val="0"/>
            <c:bubble3D val="0"/>
            <c:spPr>
              <a:solidFill>
                <a:srgbClr val="70AD47"/>
              </a:solidFill>
              <a:effectLst/>
            </c:spPr>
            <c:extLst>
              <c:ext xmlns:c16="http://schemas.microsoft.com/office/drawing/2014/chart" uri="{C3380CC4-5D6E-409C-BE32-E72D297353CC}">
                <c16:uniqueId val="{00000003-8046-D546-A9D2-A749303F36B4}"/>
              </c:ext>
            </c:extLst>
          </c:dPt>
          <c:dPt>
            <c:idx val="2"/>
            <c:invertIfNegative val="0"/>
            <c:bubble3D val="0"/>
            <c:spPr>
              <a:solidFill>
                <a:srgbClr val="8064A2"/>
              </a:solidFill>
              <a:effectLst/>
            </c:spPr>
            <c:extLst>
              <c:ext xmlns:c16="http://schemas.microsoft.com/office/drawing/2014/chart" uri="{C3380CC4-5D6E-409C-BE32-E72D297353CC}">
                <c16:uniqueId val="{00000005-8046-D546-A9D2-A749303F36B4}"/>
              </c:ext>
            </c:extLst>
          </c:dPt>
          <c:dPt>
            <c:idx val="3"/>
            <c:invertIfNegative val="0"/>
            <c:bubble3D val="0"/>
            <c:spPr>
              <a:solidFill>
                <a:srgbClr val="F79646"/>
              </a:solidFill>
              <a:effectLst/>
            </c:spPr>
            <c:extLst>
              <c:ext xmlns:c16="http://schemas.microsoft.com/office/drawing/2014/chart" uri="{C3380CC4-5D6E-409C-BE32-E72D297353CC}">
                <c16:uniqueId val="{00000007-8046-D546-A9D2-A749303F36B4}"/>
              </c:ext>
            </c:extLst>
          </c:dPt>
          <c:cat>
            <c:strRef>
              <c:f>Sheet1!$A$2:$A$5</c:f>
              <c:strCache>
                <c:ptCount val="4"/>
                <c:pt idx="0">
                  <c:v>East</c:v>
                </c:pt>
                <c:pt idx="1">
                  <c:v>West</c:v>
                </c:pt>
                <c:pt idx="2">
                  <c:v>Midwest</c:v>
                </c:pt>
                <c:pt idx="3">
                  <c:v>South</c:v>
                </c:pt>
              </c:strCache>
            </c:strRef>
          </c:cat>
          <c:val>
            <c:numRef>
              <c:f>Sheet1!$B$2:$B$5</c:f>
              <c:numCache>
                <c:formatCode>General</c:formatCode>
                <c:ptCount val="4"/>
                <c:pt idx="0">
                  <c:v>75143.08</c:v>
                </c:pt>
                <c:pt idx="1">
                  <c:v>73820.27</c:v>
                </c:pt>
                <c:pt idx="2">
                  <c:v>48392.959999999999</c:v>
                </c:pt>
                <c:pt idx="3">
                  <c:v>42151.66</c:v>
                </c:pt>
              </c:numCache>
            </c:numRef>
          </c:val>
          <c:extLst>
            <c:ext xmlns:c16="http://schemas.microsoft.com/office/drawing/2014/chart" uri="{C3380CC4-5D6E-409C-BE32-E72D297353CC}">
              <c16:uniqueId val="{00000008-8046-D546-A9D2-A749303F36B4}"/>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ptos"/>
              </a:defRPr>
            </a:pPr>
            <a:endParaRPr lang="en-US"/>
          </a:p>
        </c:txPr>
        <c:crossAx val="2094734552"/>
        <c:crosses val="autoZero"/>
        <c:auto val="1"/>
        <c:lblAlgn val="ctr"/>
        <c:lblOffset val="100"/>
        <c:noMultiLvlLbl val="1"/>
      </c:catAx>
      <c:valAx>
        <c:axId val="2094734552"/>
        <c:scaling>
          <c:orientation val="minMax"/>
          <c:max val="85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ptos"/>
              </a:defRPr>
            </a:pPr>
            <a:endParaRPr lang="en-US"/>
          </a:p>
        </c:txPr>
        <c:crossAx val="2094734554"/>
        <c:crosses val="autoZero"/>
        <c:crossBetween val="between"/>
        <c:majorUnit val="15000"/>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00000"/>
                </a:solidFill>
                <a:latin typeface="Aptos Display"/>
              </a:defRPr>
            </a:pPr>
            <a:r>
              <a:rPr lang="en-US" sz="1500" b="0" i="0" u="none" strike="noStrike">
                <a:solidFill>
                  <a:srgbClr val="000000"/>
                </a:solidFill>
                <a:latin typeface="Aptos Display"/>
              </a:rPr>
              <a:t>Monthly Sales Trend</a:t>
            </a:r>
          </a:p>
        </c:rich>
      </c:tx>
      <c:overlay val="0"/>
    </c:title>
    <c:autoTitleDeleted val="0"/>
    <c:plotArea>
      <c:layout/>
      <c:lineChart>
        <c:grouping val="standard"/>
        <c:varyColors val="0"/>
        <c:ser>
          <c:idx val="0"/>
          <c:order val="0"/>
          <c:tx>
            <c:strRef>
              <c:f>Sheet1!$B$1</c:f>
              <c:strCache>
                <c:ptCount val="1"/>
                <c:pt idx="0">
                  <c:v>Revenue</c:v>
                </c:pt>
              </c:strCache>
            </c:strRef>
          </c:tx>
          <c:spPr>
            <a:ln w="31750" cap="flat">
              <a:solidFill>
                <a:srgbClr val="2F75B5"/>
              </a:solidFill>
              <a:prstDash val="solid"/>
              <a:round/>
            </a:ln>
            <a:effectLst/>
          </c:spPr>
          <c:marker>
            <c:symbol val="circle"/>
            <c:size val="6"/>
            <c:spPr>
              <a:solidFill>
                <a:srgbClr val="2F75B5"/>
              </a:solidFill>
              <a:ln w="9525" cap="flat">
                <a:solidFill>
                  <a:srgbClr val="2F75B5"/>
                </a:solidFill>
                <a:prstDash val="solid"/>
                <a:round/>
              </a:ln>
              <a:effectLst/>
            </c:spPr>
          </c:marker>
          <c:cat>
            <c:strRef>
              <c:f>Sheet1!$A$2:$A$10</c:f>
              <c:strCache>
                <c:ptCount val="9"/>
                <c:pt idx="0">
                  <c:v>Jan</c:v>
                </c:pt>
                <c:pt idx="1">
                  <c:v>Feb</c:v>
                </c:pt>
                <c:pt idx="2">
                  <c:v>Mar</c:v>
                </c:pt>
                <c:pt idx="3">
                  <c:v>Apr</c:v>
                </c:pt>
                <c:pt idx="4">
                  <c:v>May</c:v>
                </c:pt>
                <c:pt idx="5">
                  <c:v>Jun</c:v>
                </c:pt>
                <c:pt idx="6">
                  <c:v>Jul</c:v>
                </c:pt>
                <c:pt idx="7">
                  <c:v>Aug</c:v>
                </c:pt>
                <c:pt idx="8">
                  <c:v>Sep</c:v>
                </c:pt>
              </c:strCache>
            </c:strRef>
          </c:cat>
          <c:val>
            <c:numRef>
              <c:f>Sheet1!$B$2:$B$10</c:f>
              <c:numCache>
                <c:formatCode>General</c:formatCode>
                <c:ptCount val="9"/>
                <c:pt idx="0">
                  <c:v>23446.41</c:v>
                </c:pt>
                <c:pt idx="1">
                  <c:v>25965.33</c:v>
                </c:pt>
                <c:pt idx="2">
                  <c:v>25191.54</c:v>
                </c:pt>
                <c:pt idx="3">
                  <c:v>40237.129999999997</c:v>
                </c:pt>
                <c:pt idx="4">
                  <c:v>31496.65</c:v>
                </c:pt>
                <c:pt idx="5">
                  <c:v>32201.38</c:v>
                </c:pt>
                <c:pt idx="6">
                  <c:v>21686.02</c:v>
                </c:pt>
                <c:pt idx="7">
                  <c:v>28548.48</c:v>
                </c:pt>
                <c:pt idx="8">
                  <c:v>10735.03</c:v>
                </c:pt>
              </c:numCache>
            </c:numRef>
          </c:val>
          <c:smooth val="0"/>
          <c:extLst>
            <c:ext xmlns:c16="http://schemas.microsoft.com/office/drawing/2014/chart" uri="{C3380CC4-5D6E-409C-BE32-E72D297353CC}">
              <c16:uniqueId val="{00000000-57FE-EB4F-8C08-BA715D8507E2}"/>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45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majorUnit val="10000"/>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00000"/>
                </a:solidFill>
                <a:latin typeface="Aptos Display"/>
              </a:defRPr>
            </a:pPr>
            <a:r>
              <a:rPr lang="en-US" sz="1500" b="0" i="0" u="none" strike="noStrike">
                <a:solidFill>
                  <a:srgbClr val="000000"/>
                </a:solidFill>
                <a:latin typeface="Aptos Display"/>
              </a:rPr>
              <a:t>Top 6 Products by Revenue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70AD47"/>
            </a:solidFill>
            <a:effectLst/>
          </c:spPr>
          <c:invertIfNegative val="0"/>
          <c:cat>
            <c:strRef>
              <c:f>Sheet1!$A$2:$A$7</c:f>
              <c:strCache>
                <c:ptCount val="6"/>
                <c:pt idx="0">
                  <c:v>Stainless Cookware Set</c:v>
                </c:pt>
                <c:pt idx="1">
                  <c:v>Ergonomic Office Chair</c:v>
                </c:pt>
                <c:pt idx="2">
                  <c:v>Standing Desk Converter</c:v>
                </c:pt>
                <c:pt idx="3">
                  <c:v>Smart Home Hub</c:v>
                </c:pt>
                <c:pt idx="4">
                  <c:v>Air Fryer XL</c:v>
                </c:pt>
                <c:pt idx="5">
                  <c:v>Travel Backpack</c:v>
                </c:pt>
              </c:strCache>
            </c:strRef>
          </c:cat>
          <c:val>
            <c:numRef>
              <c:f>Sheet1!$B$2:$B$7</c:f>
              <c:numCache>
                <c:formatCode>General</c:formatCode>
                <c:ptCount val="6"/>
                <c:pt idx="0">
                  <c:v>43446.9</c:v>
                </c:pt>
                <c:pt idx="1">
                  <c:v>40103.4</c:v>
                </c:pt>
                <c:pt idx="2">
                  <c:v>31808.13</c:v>
                </c:pt>
                <c:pt idx="3">
                  <c:v>28603.21</c:v>
                </c:pt>
                <c:pt idx="4">
                  <c:v>27779.62</c:v>
                </c:pt>
                <c:pt idx="5">
                  <c:v>23190.43</c:v>
                </c:pt>
              </c:numCache>
            </c:numRef>
          </c:val>
          <c:extLst>
            <c:ext xmlns:c16="http://schemas.microsoft.com/office/drawing/2014/chart" uri="{C3380CC4-5D6E-409C-BE32-E72D297353CC}">
              <c16:uniqueId val="{00000000-E935-BD4F-AB2C-1EE93FEF8E0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3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50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4"/>
        <c:crosses val="autoZero"/>
        <c:crossBetween val="between"/>
        <c:majorUnit val="10000"/>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00000"/>
                </a:solidFill>
                <a:latin typeface="Aptos Display"/>
              </a:defRPr>
            </a:pPr>
            <a:r>
              <a:rPr lang="en-US" sz="1500" b="0" i="0" u="none" strike="noStrike">
                <a:solidFill>
                  <a:srgbClr val="000000"/>
                </a:solidFill>
                <a:latin typeface="Aptos Display"/>
              </a:rPr>
              <a:t>Top 6 Salespeople by Revenue</a:t>
            </a:r>
          </a:p>
        </c:rich>
      </c:tx>
      <c:overlay val="0"/>
    </c:title>
    <c:autoTitleDeleted val="0"/>
    <c:plotArea>
      <c:layout/>
      <c:barChart>
        <c:barDir val="col"/>
        <c:grouping val="clustered"/>
        <c:varyColors val="0"/>
        <c:ser>
          <c:idx val="0"/>
          <c:order val="0"/>
          <c:tx>
            <c:strRef>
              <c:f>Sheet1!$B$1</c:f>
              <c:strCache>
                <c:ptCount val="1"/>
                <c:pt idx="0">
                  <c:v>Revenue</c:v>
                </c:pt>
              </c:strCache>
            </c:strRef>
          </c:tx>
          <c:spPr>
            <a:solidFill>
              <a:srgbClr val="2F75B5"/>
            </a:solidFill>
            <a:effectLst/>
          </c:spPr>
          <c:invertIfNegative val="0"/>
          <c:cat>
            <c:strRef>
              <c:f>Sheet1!$A$2:$A$7</c:f>
              <c:strCache>
                <c:ptCount val="6"/>
                <c:pt idx="0">
                  <c:v>Benjamin Moore</c:v>
                </c:pt>
                <c:pt idx="1">
                  <c:v>Noah Brown</c:v>
                </c:pt>
                <c:pt idx="2">
                  <c:v>Olivia Garcia</c:v>
                </c:pt>
                <c:pt idx="3">
                  <c:v>Mia Thomas</c:v>
                </c:pt>
                <c:pt idx="4">
                  <c:v>Sophia Martinez</c:v>
                </c:pt>
                <c:pt idx="5">
                  <c:v>Liam Wilson</c:v>
                </c:pt>
              </c:strCache>
            </c:strRef>
          </c:cat>
          <c:val>
            <c:numRef>
              <c:f>Sheet1!$B$2:$B$7</c:f>
              <c:numCache>
                <c:formatCode>General</c:formatCode>
                <c:ptCount val="6"/>
                <c:pt idx="0">
                  <c:v>33190.54</c:v>
                </c:pt>
                <c:pt idx="1">
                  <c:v>31621.79</c:v>
                </c:pt>
                <c:pt idx="2">
                  <c:v>27889.71</c:v>
                </c:pt>
                <c:pt idx="3">
                  <c:v>24945.83</c:v>
                </c:pt>
                <c:pt idx="4">
                  <c:v>24102.37</c:v>
                </c:pt>
                <c:pt idx="5">
                  <c:v>22400.77</c:v>
                </c:pt>
              </c:numCache>
            </c:numRef>
          </c:val>
          <c:extLst>
            <c:ext xmlns:c16="http://schemas.microsoft.com/office/drawing/2014/chart" uri="{C3380CC4-5D6E-409C-BE32-E72D297353CC}">
              <c16:uniqueId val="{00000000-2BCF-4C4B-AF0C-C77D06CF3A66}"/>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6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max val="360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000000"/>
                </a:solidFill>
                <a:latin typeface="Arial"/>
              </a:defRPr>
            </a:pPr>
            <a:endParaRPr lang="en-US"/>
          </a:p>
        </c:txPr>
        <c:crossAx val="2094734554"/>
        <c:crosses val="autoZero"/>
        <c:crossBetween val="between"/>
        <c:majorUnit val="6000"/>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500" b="0" i="0" u="none" strike="noStrike">
                <a:solidFill>
                  <a:srgbClr val="000000"/>
                </a:solidFill>
                <a:latin typeface="Aptos Display"/>
              </a:defRPr>
            </a:pPr>
            <a:r>
              <a:rPr lang="en-US" sz="1500" b="0" i="0" u="none" strike="noStrike">
                <a:solidFill>
                  <a:srgbClr val="000000"/>
                </a:solidFill>
                <a:latin typeface="Aptos Display"/>
              </a:rPr>
              <a:t>Revenue by Customer Type</a:t>
            </a:r>
          </a:p>
        </c:rich>
      </c:tx>
      <c:overlay val="0"/>
    </c:title>
    <c:autoTitleDeleted val="0"/>
    <c:plotArea>
      <c:layout/>
      <c:doughnutChart>
        <c:varyColors val="1"/>
        <c:ser>
          <c:idx val="0"/>
          <c:order val="0"/>
          <c:tx>
            <c:strRef>
              <c:f>Sheet1!$B$1</c:f>
              <c:strCache>
                <c:ptCount val="1"/>
                <c:pt idx="0">
                  <c:v>Revenue</c:v>
                </c:pt>
              </c:strCache>
            </c:strRef>
          </c:tx>
          <c:spPr>
            <a:solidFill>
              <a:schemeClr val="accent1"/>
            </a:solidFill>
            <a:ln w="9525" cap="flat">
              <a:solidFill>
                <a:srgbClr val="F9F9F9"/>
              </a:solidFill>
              <a:prstDash val="solid"/>
              <a:round/>
            </a:ln>
            <a:effectLst/>
          </c:spPr>
          <c:dPt>
            <c:idx val="0"/>
            <c:bubble3D val="0"/>
            <c:spPr>
              <a:solidFill>
                <a:srgbClr val="2F75B5"/>
              </a:solidFill>
              <a:effectLst/>
            </c:spPr>
            <c:extLst>
              <c:ext xmlns:c16="http://schemas.microsoft.com/office/drawing/2014/chart" uri="{C3380CC4-5D6E-409C-BE32-E72D297353CC}">
                <c16:uniqueId val="{00000001-6EBB-BC44-94EB-EAFE0C5B8033}"/>
              </c:ext>
            </c:extLst>
          </c:dPt>
          <c:dPt>
            <c:idx val="1"/>
            <c:bubble3D val="0"/>
            <c:spPr>
              <a:solidFill>
                <a:srgbClr val="C0504D"/>
              </a:solidFill>
              <a:effectLst/>
            </c:spPr>
            <c:extLst>
              <c:ext xmlns:c16="http://schemas.microsoft.com/office/drawing/2014/chart" uri="{C3380CC4-5D6E-409C-BE32-E72D297353CC}">
                <c16:uniqueId val="{00000003-6EBB-BC44-94EB-EAFE0C5B8033}"/>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6EBB-BC44-94EB-EAFE0C5B8033}"/>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EBB-BC44-94EB-EAFE0C5B8033}"/>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Retail</c:v>
                </c:pt>
                <c:pt idx="1">
                  <c:v>Wholesale</c:v>
                </c:pt>
              </c:strCache>
            </c:strRef>
          </c:cat>
          <c:val>
            <c:numRef>
              <c:f>Sheet1!$B$2:$B$3</c:f>
              <c:numCache>
                <c:formatCode>General</c:formatCode>
                <c:ptCount val="2"/>
                <c:pt idx="0">
                  <c:v>125069.17</c:v>
                </c:pt>
                <c:pt idx="1">
                  <c:v>114438.8</c:v>
                </c:pt>
              </c:numCache>
            </c:numRef>
          </c:val>
          <c:extLst>
            <c:ext xmlns:c16="http://schemas.microsoft.com/office/drawing/2014/chart" uri="{C3380CC4-5D6E-409C-BE32-E72D297353CC}">
              <c16:uniqueId val="{00000004-6EBB-BC44-94EB-EAFE0C5B8033}"/>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04853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I am presenting the Keystone Retail Solutions sales dashboard project.
The numbers in this presentation are based on the final working Excel workbook.
The key results are total revenue of about $239,508, East as the top region, Stainless Cookware Set as the top product, and Benjamin Moore as the top salesperson.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most important dashboard results.
The company generated $239,507.97 in revenue and sold 2,444 units.
The average transaction was about $997.95, and April had the highest monthly revenue.
The East region, Stainless Cookware Set, and Benjamin Moore were the top performers.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regional and monthly trends.
East is the top region with about $75,143, and West is very close behind with about $73,820.
South is the lowest region at about $42,152, so it should be reviewed for sales support or marketing improvements.
By month, April is the strongest month, while September is the lowest month in this dataset.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product and salesperson performance.
The top product is Stainless Cookware Set with about $43,447 in revenue, followed by Ergonomic Office Chair with about $40,103.
The top salesperson is Benjamin Moore with about $33,191, followed by Noah Brown with about $31,622.
These top performers should be used to understand what products and sales approaches are working best.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analyzes customer type.
Retail revenue is about $125,069, and wholesale revenue is about $114,439.
Retail is slightly larger, but wholesale is still a very important revenue source.
The recommendation is to grow retail sales while protecting wholesale customer retention.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final recommendations are based on the Excel dashboard results.
First, Keystone should strengthen the South region because it has the lowest revenue.
Second, the company should protect inventory and marketing for top products like Stainless Cookware Set and Ergonomic Office Chair.
Third, leadership should learn from the top salespeople and use the monthly trend to plan promotions.
Overall, the dashboard gives executives a clear way to make better sales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594360"/>
            <a:ext cx="10789920" cy="685800"/>
          </a:xfrm>
          <a:prstGeom prst="rect">
            <a:avLst/>
          </a:prstGeom>
          <a:noFill/>
          <a:ln/>
        </p:spPr>
        <p:txBody>
          <a:bodyPr wrap="square" lIns="0" tIns="0" rIns="0" bIns="0" rtlCol="0" anchor="ctr"/>
          <a:lstStyle/>
          <a:p>
            <a:pPr marL="0" indent="0">
              <a:buNone/>
            </a:pPr>
            <a:r>
              <a:rPr lang="en-US" sz="3100" b="1" dirty="0">
                <a:solidFill>
                  <a:srgbClr val="173B57"/>
                </a:solidFill>
              </a:rPr>
              <a:t>Business Sales Analysis Using Spreadsheet Technology</a:t>
            </a:r>
            <a:endParaRPr lang="en-US" sz="3100" dirty="0"/>
          </a:p>
        </p:txBody>
      </p:sp>
      <p:sp>
        <p:nvSpPr>
          <p:cNvPr id="3" name="Text 1"/>
          <p:cNvSpPr/>
          <p:nvPr/>
        </p:nvSpPr>
        <p:spPr>
          <a:xfrm>
            <a:off x="566928" y="1417320"/>
            <a:ext cx="6858000" cy="320040"/>
          </a:xfrm>
          <a:prstGeom prst="rect">
            <a:avLst/>
          </a:prstGeom>
          <a:noFill/>
          <a:ln/>
        </p:spPr>
        <p:txBody>
          <a:bodyPr wrap="square" lIns="0" tIns="0" rIns="0" bIns="0" rtlCol="0" anchor="ctr"/>
          <a:lstStyle/>
          <a:p>
            <a:pPr marL="0" indent="0">
              <a:buNone/>
            </a:pPr>
            <a:r>
              <a:rPr lang="en-US" sz="1900" b="1" dirty="0">
                <a:solidFill>
                  <a:srgbClr val="2F75B5"/>
                </a:solidFill>
              </a:rPr>
              <a:t>Keystone Retail Solutions</a:t>
            </a:r>
            <a:endParaRPr lang="en-US" sz="1900" dirty="0"/>
          </a:p>
        </p:txBody>
      </p:sp>
      <p:sp>
        <p:nvSpPr>
          <p:cNvPr id="4" name="Text 2"/>
          <p:cNvSpPr/>
          <p:nvPr/>
        </p:nvSpPr>
        <p:spPr>
          <a:xfrm>
            <a:off x="566928" y="1874520"/>
            <a:ext cx="8138160" cy="365760"/>
          </a:xfrm>
          <a:prstGeom prst="rect">
            <a:avLst/>
          </a:prstGeom>
          <a:noFill/>
          <a:ln/>
        </p:spPr>
        <p:txBody>
          <a:bodyPr wrap="square" lIns="0" tIns="0" rIns="0" bIns="0" rtlCol="0" anchor="ctr"/>
          <a:lstStyle/>
          <a:p>
            <a:pPr marL="0" indent="0">
              <a:buNone/>
            </a:pPr>
            <a:r>
              <a:rPr lang="en-US" sz="1500" dirty="0">
                <a:solidFill>
                  <a:srgbClr val="666666"/>
                </a:solidFill>
              </a:rPr>
              <a:t>Executive sales dashboard and business insights based on the final working Excel workbook.</a:t>
            </a:r>
            <a:endParaRPr lang="en-US" sz="1500" dirty="0"/>
          </a:p>
        </p:txBody>
      </p:sp>
      <p:sp>
        <p:nvSpPr>
          <p:cNvPr id="5" name="Shape 3"/>
          <p:cNvSpPr/>
          <p:nvPr/>
        </p:nvSpPr>
        <p:spPr>
          <a:xfrm>
            <a:off x="566928" y="283464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6" name="Text 4"/>
          <p:cNvSpPr/>
          <p:nvPr/>
        </p:nvSpPr>
        <p:spPr>
          <a:xfrm>
            <a:off x="704088" y="295351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Total Revenue</a:t>
            </a:r>
            <a:endParaRPr lang="en-US" sz="1050" dirty="0"/>
          </a:p>
        </p:txBody>
      </p:sp>
      <p:sp>
        <p:nvSpPr>
          <p:cNvPr id="7" name="Text 5"/>
          <p:cNvSpPr/>
          <p:nvPr/>
        </p:nvSpPr>
        <p:spPr>
          <a:xfrm>
            <a:off x="704088" y="321868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$239,507.97</a:t>
            </a:r>
            <a:endParaRPr lang="en-US" sz="2200" dirty="0"/>
          </a:p>
        </p:txBody>
      </p:sp>
      <p:sp>
        <p:nvSpPr>
          <p:cNvPr id="8" name="Shape 6"/>
          <p:cNvSpPr/>
          <p:nvPr/>
        </p:nvSpPr>
        <p:spPr>
          <a:xfrm>
            <a:off x="3383280" y="283464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9" name="Text 7"/>
          <p:cNvSpPr/>
          <p:nvPr/>
        </p:nvSpPr>
        <p:spPr>
          <a:xfrm>
            <a:off x="3520440" y="295351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Top Region</a:t>
            </a:r>
            <a:endParaRPr lang="en-US" sz="1050" dirty="0"/>
          </a:p>
        </p:txBody>
      </p:sp>
      <p:sp>
        <p:nvSpPr>
          <p:cNvPr id="10" name="Text 8"/>
          <p:cNvSpPr/>
          <p:nvPr/>
        </p:nvSpPr>
        <p:spPr>
          <a:xfrm>
            <a:off x="3520440" y="321868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East</a:t>
            </a:r>
            <a:endParaRPr lang="en-US" sz="2200" dirty="0"/>
          </a:p>
        </p:txBody>
      </p:sp>
      <p:sp>
        <p:nvSpPr>
          <p:cNvPr id="11" name="Shape 9"/>
          <p:cNvSpPr/>
          <p:nvPr/>
        </p:nvSpPr>
        <p:spPr>
          <a:xfrm>
            <a:off x="6199632" y="2834640"/>
            <a:ext cx="297180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12" name="Text 10"/>
          <p:cNvSpPr/>
          <p:nvPr/>
        </p:nvSpPr>
        <p:spPr>
          <a:xfrm>
            <a:off x="6336792" y="2953512"/>
            <a:ext cx="2697480" cy="201168"/>
          </a:xfrm>
          <a:prstGeom prst="rect">
            <a:avLst/>
          </a:prstGeom>
          <a:noFill/>
          <a:ln/>
        </p:spPr>
        <p:txBody>
          <a:bodyPr wrap="square" lIns="0" tIns="0" rIns="0" bIns="0" rtlCol="0" anchor="ctr"/>
          <a:lstStyle/>
          <a:p>
            <a:pPr marL="0" indent="0">
              <a:buNone/>
            </a:pPr>
            <a:r>
              <a:rPr lang="en-US" sz="1050" b="1" dirty="0">
                <a:solidFill>
                  <a:srgbClr val="666666"/>
                </a:solidFill>
              </a:rPr>
              <a:t>Top Product</a:t>
            </a:r>
            <a:endParaRPr lang="en-US" sz="1050" dirty="0"/>
          </a:p>
        </p:txBody>
      </p:sp>
      <p:sp>
        <p:nvSpPr>
          <p:cNvPr id="13" name="Text 11"/>
          <p:cNvSpPr/>
          <p:nvPr/>
        </p:nvSpPr>
        <p:spPr>
          <a:xfrm>
            <a:off x="6336792" y="3218688"/>
            <a:ext cx="2697480" cy="393192"/>
          </a:xfrm>
          <a:prstGeom prst="rect">
            <a:avLst/>
          </a:prstGeom>
          <a:noFill/>
          <a:ln/>
        </p:spPr>
        <p:txBody>
          <a:bodyPr wrap="square" lIns="0" tIns="0" rIns="0" bIns="0" rtlCol="0" anchor="ctr"/>
          <a:lstStyle/>
          <a:p>
            <a:pPr marL="0" indent="0">
              <a:buNone/>
            </a:pPr>
            <a:r>
              <a:rPr lang="en-US" sz="2200" b="1" dirty="0">
                <a:solidFill>
                  <a:srgbClr val="173B57"/>
                </a:solidFill>
              </a:rPr>
              <a:t>Stainless Cookware Set</a:t>
            </a:r>
            <a:endParaRPr lang="en-US" sz="2200" dirty="0"/>
          </a:p>
        </p:txBody>
      </p:sp>
      <p:sp>
        <p:nvSpPr>
          <p:cNvPr id="14" name="Shape 12"/>
          <p:cNvSpPr/>
          <p:nvPr/>
        </p:nvSpPr>
        <p:spPr>
          <a:xfrm>
            <a:off x="9372600" y="2834640"/>
            <a:ext cx="246888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15" name="Text 13"/>
          <p:cNvSpPr/>
          <p:nvPr/>
        </p:nvSpPr>
        <p:spPr>
          <a:xfrm>
            <a:off x="9509760" y="2953512"/>
            <a:ext cx="2194560" cy="201168"/>
          </a:xfrm>
          <a:prstGeom prst="rect">
            <a:avLst/>
          </a:prstGeom>
          <a:noFill/>
          <a:ln/>
        </p:spPr>
        <p:txBody>
          <a:bodyPr wrap="square" lIns="0" tIns="0" rIns="0" bIns="0" rtlCol="0" anchor="ctr"/>
          <a:lstStyle/>
          <a:p>
            <a:pPr marL="0" indent="0">
              <a:buNone/>
            </a:pPr>
            <a:r>
              <a:rPr lang="en-US" sz="1050" b="1" dirty="0">
                <a:solidFill>
                  <a:srgbClr val="666666"/>
                </a:solidFill>
              </a:rPr>
              <a:t>Top Salesperson</a:t>
            </a:r>
            <a:endParaRPr lang="en-US" sz="1050" dirty="0"/>
          </a:p>
        </p:txBody>
      </p:sp>
      <p:sp>
        <p:nvSpPr>
          <p:cNvPr id="16" name="Text 14"/>
          <p:cNvSpPr/>
          <p:nvPr/>
        </p:nvSpPr>
        <p:spPr>
          <a:xfrm>
            <a:off x="9509760" y="3218688"/>
            <a:ext cx="2194560" cy="393192"/>
          </a:xfrm>
          <a:prstGeom prst="rect">
            <a:avLst/>
          </a:prstGeom>
          <a:noFill/>
          <a:ln/>
        </p:spPr>
        <p:txBody>
          <a:bodyPr wrap="square" lIns="0" tIns="0" rIns="0" bIns="0" rtlCol="0" anchor="ctr"/>
          <a:lstStyle/>
          <a:p>
            <a:pPr marL="0" indent="0">
              <a:buNone/>
            </a:pPr>
            <a:r>
              <a:rPr lang="en-US" sz="2200" b="1" dirty="0">
                <a:solidFill>
                  <a:srgbClr val="173B57"/>
                </a:solidFill>
              </a:rPr>
              <a:t>Benjamin Moore</a:t>
            </a:r>
            <a:endParaRPr lang="en-US" sz="2200" dirty="0"/>
          </a:p>
        </p:txBody>
      </p:sp>
      <p:sp>
        <p:nvSpPr>
          <p:cNvPr id="17" name="Text 15"/>
          <p:cNvSpPr/>
          <p:nvPr/>
        </p:nvSpPr>
        <p:spPr>
          <a:xfrm>
            <a:off x="566928" y="5257800"/>
            <a:ext cx="4937760" cy="685800"/>
          </a:xfrm>
          <a:prstGeom prst="rect">
            <a:avLst/>
          </a:prstGeom>
          <a:noFill/>
          <a:ln/>
        </p:spPr>
        <p:txBody>
          <a:bodyPr wrap="square" lIns="0" tIns="0" rIns="0" bIns="0" rtlCol="0" anchor="ctr"/>
          <a:lstStyle/>
          <a:p>
            <a:pPr marL="0" indent="0">
              <a:buNone/>
            </a:pPr>
            <a:r>
              <a:rPr lang="en-US" sz="1300" b="1" dirty="0">
                <a:solidFill>
                  <a:srgbClr val="173B57"/>
                </a:solidFill>
              </a:rPr>
              <a:t>Made by Juan Barrera</a:t>
            </a:r>
            <a:endParaRPr lang="en-US" sz="1300" dirty="0"/>
          </a:p>
          <a:p>
            <a:pPr marL="0" indent="0">
              <a:buNone/>
            </a:pPr>
            <a:r>
              <a:rPr lang="en-US" sz="1300" b="1" dirty="0">
                <a:solidFill>
                  <a:srgbClr val="173B57"/>
                </a:solidFill>
              </a:rPr>
              <a:t>Professor Jeffrey Seaman</a:t>
            </a:r>
            <a:endParaRPr lang="en-US" sz="1300" dirty="0"/>
          </a:p>
          <a:p>
            <a:pPr marL="0" indent="0">
              <a:buNone/>
            </a:pPr>
            <a:r>
              <a:rPr lang="en-US" sz="1300" b="1" dirty="0">
                <a:solidFill>
                  <a:srgbClr val="173B57"/>
                </a:solidFill>
              </a:rPr>
              <a:t>Management Information Systems</a:t>
            </a:r>
            <a:endParaRPr lang="en-US" sz="1300" dirty="0"/>
          </a:p>
        </p:txBody>
      </p:sp>
      <p:sp>
        <p:nvSpPr>
          <p:cNvPr id="18" name="Text 1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1</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201168"/>
            <a:ext cx="11430000" cy="411480"/>
          </a:xfrm>
          <a:prstGeom prst="rect">
            <a:avLst/>
          </a:prstGeom>
          <a:noFill/>
          <a:ln/>
        </p:spPr>
        <p:txBody>
          <a:bodyPr wrap="square" lIns="0" tIns="0" rIns="0" bIns="0" rtlCol="0" anchor="ctr"/>
          <a:lstStyle/>
          <a:p>
            <a:pPr marL="0" indent="0">
              <a:buNone/>
            </a:pPr>
            <a:r>
              <a:rPr lang="en-US" sz="2800" b="1" dirty="0">
                <a:solidFill>
                  <a:srgbClr val="173B57"/>
                </a:solidFill>
                <a:latin typeface="Aptos Display" pitchFamily="34" charset="0"/>
                <a:ea typeface="Aptos Display" pitchFamily="34" charset="-122"/>
                <a:cs typeface="Aptos Display" pitchFamily="34" charset="-120"/>
              </a:rPr>
              <a:t>Executive KPI Summary</a:t>
            </a:r>
            <a:endParaRPr lang="en-US" sz="2800" dirty="0"/>
          </a:p>
        </p:txBody>
      </p:sp>
      <p:sp>
        <p:nvSpPr>
          <p:cNvPr id="3" name="Text 1"/>
          <p:cNvSpPr/>
          <p:nvPr/>
        </p:nvSpPr>
        <p:spPr>
          <a:xfrm>
            <a:off x="384048" y="713232"/>
            <a:ext cx="11338560" cy="256032"/>
          </a:xfrm>
          <a:prstGeom prst="rect">
            <a:avLst/>
          </a:prstGeom>
          <a:noFill/>
          <a:ln/>
        </p:spPr>
        <p:txBody>
          <a:bodyPr wrap="square" lIns="0" tIns="0" rIns="0" bIns="0" rtlCol="0" anchor="ctr"/>
          <a:lstStyle/>
          <a:p>
            <a:pPr marL="0" indent="0">
              <a:buNone/>
            </a:pPr>
            <a:r>
              <a:rPr lang="en-US" sz="1250" dirty="0">
                <a:solidFill>
                  <a:srgbClr val="666666"/>
                </a:solidFill>
              </a:rPr>
              <a:t>The dashboard answers leadership’s core performance questions using the final Excel calculations.</a:t>
            </a:r>
            <a:endParaRPr lang="en-US" sz="1250" dirty="0"/>
          </a:p>
        </p:txBody>
      </p:sp>
      <p:sp>
        <p:nvSpPr>
          <p:cNvPr id="4" name="Shape 2"/>
          <p:cNvSpPr/>
          <p:nvPr/>
        </p:nvSpPr>
        <p:spPr>
          <a:xfrm>
            <a:off x="320040" y="1024128"/>
            <a:ext cx="11521440" cy="0"/>
          </a:xfrm>
          <a:prstGeom prst="line">
            <a:avLst/>
          </a:prstGeom>
          <a:noFill/>
          <a:ln w="25400">
            <a:solidFill>
              <a:srgbClr val="2F75B5"/>
            </a:solidFill>
            <a:prstDash val="solid"/>
          </a:ln>
        </p:spPr>
        <p:txBody>
          <a:bodyPr/>
          <a:lstStyle/>
          <a:p>
            <a:endParaRPr lang="en-US"/>
          </a:p>
        </p:txBody>
      </p:sp>
      <p:sp>
        <p:nvSpPr>
          <p:cNvPr id="5" name="Shape 3"/>
          <p:cNvSpPr/>
          <p:nvPr/>
        </p:nvSpPr>
        <p:spPr>
          <a:xfrm>
            <a:off x="594360" y="141732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6" name="Text 4"/>
          <p:cNvSpPr/>
          <p:nvPr/>
        </p:nvSpPr>
        <p:spPr>
          <a:xfrm>
            <a:off x="731520" y="153619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Total Revenue</a:t>
            </a:r>
            <a:endParaRPr lang="en-US" sz="1050" dirty="0"/>
          </a:p>
        </p:txBody>
      </p:sp>
      <p:sp>
        <p:nvSpPr>
          <p:cNvPr id="7" name="Text 5"/>
          <p:cNvSpPr/>
          <p:nvPr/>
        </p:nvSpPr>
        <p:spPr>
          <a:xfrm>
            <a:off x="731520" y="180136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$239,507.97</a:t>
            </a:r>
            <a:endParaRPr lang="en-US" sz="2200" dirty="0"/>
          </a:p>
        </p:txBody>
      </p:sp>
      <p:sp>
        <p:nvSpPr>
          <p:cNvPr id="8" name="Shape 6"/>
          <p:cNvSpPr/>
          <p:nvPr/>
        </p:nvSpPr>
        <p:spPr>
          <a:xfrm>
            <a:off x="3474720" y="141732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9" name="Text 7"/>
          <p:cNvSpPr/>
          <p:nvPr/>
        </p:nvSpPr>
        <p:spPr>
          <a:xfrm>
            <a:off x="3611880" y="153619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Total Quantity Sold</a:t>
            </a:r>
            <a:endParaRPr lang="en-US" sz="1050" dirty="0"/>
          </a:p>
        </p:txBody>
      </p:sp>
      <p:sp>
        <p:nvSpPr>
          <p:cNvPr id="10" name="Text 8"/>
          <p:cNvSpPr/>
          <p:nvPr/>
        </p:nvSpPr>
        <p:spPr>
          <a:xfrm>
            <a:off x="3611880" y="180136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2,444 units</a:t>
            </a:r>
            <a:endParaRPr lang="en-US" sz="2200" dirty="0"/>
          </a:p>
        </p:txBody>
      </p:sp>
      <p:sp>
        <p:nvSpPr>
          <p:cNvPr id="11" name="Shape 9"/>
          <p:cNvSpPr/>
          <p:nvPr/>
        </p:nvSpPr>
        <p:spPr>
          <a:xfrm>
            <a:off x="6355080" y="141732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12" name="Text 10"/>
          <p:cNvSpPr/>
          <p:nvPr/>
        </p:nvSpPr>
        <p:spPr>
          <a:xfrm>
            <a:off x="6492240" y="153619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Average Sale Amount</a:t>
            </a:r>
            <a:endParaRPr lang="en-US" sz="1050" dirty="0"/>
          </a:p>
        </p:txBody>
      </p:sp>
      <p:sp>
        <p:nvSpPr>
          <p:cNvPr id="13" name="Text 11"/>
          <p:cNvSpPr/>
          <p:nvPr/>
        </p:nvSpPr>
        <p:spPr>
          <a:xfrm>
            <a:off x="6492240" y="180136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$997.95</a:t>
            </a:r>
            <a:endParaRPr lang="en-US" sz="2200" dirty="0"/>
          </a:p>
        </p:txBody>
      </p:sp>
      <p:sp>
        <p:nvSpPr>
          <p:cNvPr id="14" name="Shape 12"/>
          <p:cNvSpPr/>
          <p:nvPr/>
        </p:nvSpPr>
        <p:spPr>
          <a:xfrm>
            <a:off x="9235440" y="1417320"/>
            <a:ext cx="260604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15" name="Text 13"/>
          <p:cNvSpPr/>
          <p:nvPr/>
        </p:nvSpPr>
        <p:spPr>
          <a:xfrm>
            <a:off x="9372600" y="1536192"/>
            <a:ext cx="2331720" cy="201168"/>
          </a:xfrm>
          <a:prstGeom prst="rect">
            <a:avLst/>
          </a:prstGeom>
          <a:noFill/>
          <a:ln/>
        </p:spPr>
        <p:txBody>
          <a:bodyPr wrap="square" lIns="0" tIns="0" rIns="0" bIns="0" rtlCol="0" anchor="ctr"/>
          <a:lstStyle/>
          <a:p>
            <a:pPr marL="0" indent="0">
              <a:buNone/>
            </a:pPr>
            <a:r>
              <a:rPr lang="en-US" sz="1050" b="1" dirty="0">
                <a:solidFill>
                  <a:srgbClr val="666666"/>
                </a:solidFill>
              </a:rPr>
              <a:t>Highest Month</a:t>
            </a:r>
            <a:endParaRPr lang="en-US" sz="1050" dirty="0"/>
          </a:p>
        </p:txBody>
      </p:sp>
      <p:sp>
        <p:nvSpPr>
          <p:cNvPr id="16" name="Text 14"/>
          <p:cNvSpPr/>
          <p:nvPr/>
        </p:nvSpPr>
        <p:spPr>
          <a:xfrm>
            <a:off x="9372600" y="1801368"/>
            <a:ext cx="2331720" cy="393192"/>
          </a:xfrm>
          <a:prstGeom prst="rect">
            <a:avLst/>
          </a:prstGeom>
          <a:noFill/>
          <a:ln/>
        </p:spPr>
        <p:txBody>
          <a:bodyPr wrap="square" lIns="0" tIns="0" rIns="0" bIns="0" rtlCol="0" anchor="ctr"/>
          <a:lstStyle/>
          <a:p>
            <a:pPr marL="0" indent="0">
              <a:buNone/>
            </a:pPr>
            <a:r>
              <a:rPr lang="en-US" sz="2200" b="1" dirty="0">
                <a:solidFill>
                  <a:srgbClr val="173B57"/>
                </a:solidFill>
              </a:rPr>
              <a:t>April</a:t>
            </a:r>
            <a:endParaRPr lang="en-US" sz="2200" dirty="0"/>
          </a:p>
        </p:txBody>
      </p:sp>
      <p:sp>
        <p:nvSpPr>
          <p:cNvPr id="17" name="Text 15"/>
          <p:cNvSpPr/>
          <p:nvPr/>
        </p:nvSpPr>
        <p:spPr>
          <a:xfrm>
            <a:off x="685800" y="2926080"/>
            <a:ext cx="2011680" cy="274320"/>
          </a:xfrm>
          <a:prstGeom prst="rect">
            <a:avLst/>
          </a:prstGeom>
          <a:noFill/>
          <a:ln/>
        </p:spPr>
        <p:txBody>
          <a:bodyPr wrap="square" lIns="0" tIns="0" rIns="0" bIns="0" rtlCol="0" anchor="ctr"/>
          <a:lstStyle/>
          <a:p>
            <a:pPr marL="0" indent="0">
              <a:buNone/>
            </a:pPr>
            <a:r>
              <a:rPr lang="en-US" sz="1900" b="1" dirty="0">
                <a:solidFill>
                  <a:srgbClr val="173B57"/>
                </a:solidFill>
              </a:rPr>
              <a:t>Main findings</a:t>
            </a:r>
            <a:endParaRPr lang="en-US" sz="1900" dirty="0"/>
          </a:p>
        </p:txBody>
      </p:sp>
      <p:sp>
        <p:nvSpPr>
          <p:cNvPr id="18" name="Text 16"/>
          <p:cNvSpPr/>
          <p:nvPr/>
        </p:nvSpPr>
        <p:spPr>
          <a:xfrm>
            <a:off x="731520" y="3429000"/>
            <a:ext cx="2194560" cy="228600"/>
          </a:xfrm>
          <a:prstGeom prst="rect">
            <a:avLst/>
          </a:prstGeom>
          <a:noFill/>
          <a:ln/>
        </p:spPr>
        <p:txBody>
          <a:bodyPr wrap="square" lIns="0" tIns="0" rIns="0" bIns="0" rtlCol="0" anchor="ctr"/>
          <a:lstStyle/>
          <a:p>
            <a:pPr marL="0" indent="0">
              <a:buNone/>
            </a:pPr>
            <a:r>
              <a:rPr lang="en-US" sz="1250" b="1" dirty="0">
                <a:solidFill>
                  <a:srgbClr val="2F75B5"/>
                </a:solidFill>
              </a:rPr>
              <a:t>Top region</a:t>
            </a:r>
            <a:endParaRPr lang="en-US" sz="1250" dirty="0"/>
          </a:p>
        </p:txBody>
      </p:sp>
      <p:sp>
        <p:nvSpPr>
          <p:cNvPr id="19" name="Text 17"/>
          <p:cNvSpPr/>
          <p:nvPr/>
        </p:nvSpPr>
        <p:spPr>
          <a:xfrm>
            <a:off x="3063240" y="3429000"/>
            <a:ext cx="7863840" cy="228600"/>
          </a:xfrm>
          <a:prstGeom prst="rect">
            <a:avLst/>
          </a:prstGeom>
          <a:noFill/>
          <a:ln/>
        </p:spPr>
        <p:txBody>
          <a:bodyPr wrap="square" lIns="0" tIns="0" rIns="0" bIns="0" rtlCol="0" anchor="ctr"/>
          <a:lstStyle/>
          <a:p>
            <a:pPr marL="0" indent="0">
              <a:buNone/>
            </a:pPr>
            <a:r>
              <a:rPr lang="en-US" sz="1250" dirty="0">
                <a:solidFill>
                  <a:srgbClr val="222222"/>
                </a:solidFill>
              </a:rPr>
              <a:t>East generated $75,143, slightly ahead of West.</a:t>
            </a:r>
            <a:endParaRPr lang="en-US" sz="1250" dirty="0"/>
          </a:p>
        </p:txBody>
      </p:sp>
      <p:sp>
        <p:nvSpPr>
          <p:cNvPr id="20" name="Text 18"/>
          <p:cNvSpPr/>
          <p:nvPr/>
        </p:nvSpPr>
        <p:spPr>
          <a:xfrm>
            <a:off x="731520" y="3840480"/>
            <a:ext cx="2194560" cy="228600"/>
          </a:xfrm>
          <a:prstGeom prst="rect">
            <a:avLst/>
          </a:prstGeom>
          <a:noFill/>
          <a:ln/>
        </p:spPr>
        <p:txBody>
          <a:bodyPr wrap="square" lIns="0" tIns="0" rIns="0" bIns="0" rtlCol="0" anchor="ctr"/>
          <a:lstStyle/>
          <a:p>
            <a:pPr marL="0" indent="0">
              <a:buNone/>
            </a:pPr>
            <a:r>
              <a:rPr lang="en-US" sz="1250" b="1" dirty="0">
                <a:solidFill>
                  <a:srgbClr val="2F75B5"/>
                </a:solidFill>
              </a:rPr>
              <a:t>Top product</a:t>
            </a:r>
            <a:endParaRPr lang="en-US" sz="1250" dirty="0"/>
          </a:p>
        </p:txBody>
      </p:sp>
      <p:sp>
        <p:nvSpPr>
          <p:cNvPr id="21" name="Text 19"/>
          <p:cNvSpPr/>
          <p:nvPr/>
        </p:nvSpPr>
        <p:spPr>
          <a:xfrm>
            <a:off x="3063240" y="3840480"/>
            <a:ext cx="7863840" cy="228600"/>
          </a:xfrm>
          <a:prstGeom prst="rect">
            <a:avLst/>
          </a:prstGeom>
          <a:noFill/>
          <a:ln/>
        </p:spPr>
        <p:txBody>
          <a:bodyPr wrap="square" lIns="0" tIns="0" rIns="0" bIns="0" rtlCol="0" anchor="ctr"/>
          <a:lstStyle/>
          <a:p>
            <a:pPr marL="0" indent="0">
              <a:buNone/>
            </a:pPr>
            <a:r>
              <a:rPr lang="en-US" sz="1250" dirty="0">
                <a:solidFill>
                  <a:srgbClr val="222222"/>
                </a:solidFill>
              </a:rPr>
              <a:t>Stainless Cookware Set generated $43,447.</a:t>
            </a:r>
            <a:endParaRPr lang="en-US" sz="1250" dirty="0"/>
          </a:p>
        </p:txBody>
      </p:sp>
      <p:sp>
        <p:nvSpPr>
          <p:cNvPr id="22" name="Text 20"/>
          <p:cNvSpPr/>
          <p:nvPr/>
        </p:nvSpPr>
        <p:spPr>
          <a:xfrm>
            <a:off x="731520" y="4251960"/>
            <a:ext cx="2194560" cy="228600"/>
          </a:xfrm>
          <a:prstGeom prst="rect">
            <a:avLst/>
          </a:prstGeom>
          <a:noFill/>
          <a:ln/>
        </p:spPr>
        <p:txBody>
          <a:bodyPr wrap="square" lIns="0" tIns="0" rIns="0" bIns="0" rtlCol="0" anchor="ctr"/>
          <a:lstStyle/>
          <a:p>
            <a:pPr marL="0" indent="0">
              <a:buNone/>
            </a:pPr>
            <a:r>
              <a:rPr lang="en-US" sz="1250" b="1" dirty="0">
                <a:solidFill>
                  <a:srgbClr val="2F75B5"/>
                </a:solidFill>
              </a:rPr>
              <a:t>Top salesperson</a:t>
            </a:r>
            <a:endParaRPr lang="en-US" sz="1250" dirty="0"/>
          </a:p>
        </p:txBody>
      </p:sp>
      <p:sp>
        <p:nvSpPr>
          <p:cNvPr id="23" name="Text 21"/>
          <p:cNvSpPr/>
          <p:nvPr/>
        </p:nvSpPr>
        <p:spPr>
          <a:xfrm>
            <a:off x="3063240" y="4251960"/>
            <a:ext cx="7863840" cy="228600"/>
          </a:xfrm>
          <a:prstGeom prst="rect">
            <a:avLst/>
          </a:prstGeom>
          <a:noFill/>
          <a:ln/>
        </p:spPr>
        <p:txBody>
          <a:bodyPr wrap="square" lIns="0" tIns="0" rIns="0" bIns="0" rtlCol="0" anchor="ctr"/>
          <a:lstStyle/>
          <a:p>
            <a:pPr marL="0" indent="0">
              <a:buNone/>
            </a:pPr>
            <a:r>
              <a:rPr lang="en-US" sz="1250" dirty="0">
                <a:solidFill>
                  <a:srgbClr val="222222"/>
                </a:solidFill>
              </a:rPr>
              <a:t>Benjamin Moore generated $33,191.</a:t>
            </a:r>
            <a:endParaRPr lang="en-US" sz="1250" dirty="0"/>
          </a:p>
        </p:txBody>
      </p:sp>
      <p:sp>
        <p:nvSpPr>
          <p:cNvPr id="24" name="Text 22"/>
          <p:cNvSpPr/>
          <p:nvPr/>
        </p:nvSpPr>
        <p:spPr>
          <a:xfrm>
            <a:off x="731520" y="4663440"/>
            <a:ext cx="2194560" cy="228600"/>
          </a:xfrm>
          <a:prstGeom prst="rect">
            <a:avLst/>
          </a:prstGeom>
          <a:noFill/>
          <a:ln/>
        </p:spPr>
        <p:txBody>
          <a:bodyPr wrap="square" lIns="0" tIns="0" rIns="0" bIns="0" rtlCol="0" anchor="ctr"/>
          <a:lstStyle/>
          <a:p>
            <a:pPr marL="0" indent="0">
              <a:buNone/>
            </a:pPr>
            <a:r>
              <a:rPr lang="en-US" sz="1250" b="1" dirty="0">
                <a:solidFill>
                  <a:srgbClr val="2F75B5"/>
                </a:solidFill>
              </a:rPr>
              <a:t>Underperforming region</a:t>
            </a:r>
            <a:endParaRPr lang="en-US" sz="1250" dirty="0"/>
          </a:p>
        </p:txBody>
      </p:sp>
      <p:sp>
        <p:nvSpPr>
          <p:cNvPr id="25" name="Text 23"/>
          <p:cNvSpPr/>
          <p:nvPr/>
        </p:nvSpPr>
        <p:spPr>
          <a:xfrm>
            <a:off x="3063240" y="4663440"/>
            <a:ext cx="7863840" cy="228600"/>
          </a:xfrm>
          <a:prstGeom prst="rect">
            <a:avLst/>
          </a:prstGeom>
          <a:noFill/>
          <a:ln/>
        </p:spPr>
        <p:txBody>
          <a:bodyPr wrap="square" lIns="0" tIns="0" rIns="0" bIns="0" rtlCol="0" anchor="ctr"/>
          <a:lstStyle/>
          <a:p>
            <a:pPr marL="0" indent="0">
              <a:buNone/>
            </a:pPr>
            <a:r>
              <a:rPr lang="en-US" sz="1250" dirty="0">
                <a:solidFill>
                  <a:srgbClr val="222222"/>
                </a:solidFill>
              </a:rPr>
              <a:t>South was the lowest region at $42,152.</a:t>
            </a:r>
            <a:endParaRPr lang="en-US" sz="1250" dirty="0"/>
          </a:p>
        </p:txBody>
      </p:sp>
      <p:sp>
        <p:nvSpPr>
          <p:cNvPr id="26" name="Text 24"/>
          <p:cNvSpPr/>
          <p:nvPr/>
        </p:nvSpPr>
        <p:spPr>
          <a:xfrm>
            <a:off x="731520" y="5074920"/>
            <a:ext cx="2194560" cy="228600"/>
          </a:xfrm>
          <a:prstGeom prst="rect">
            <a:avLst/>
          </a:prstGeom>
          <a:noFill/>
          <a:ln/>
        </p:spPr>
        <p:txBody>
          <a:bodyPr wrap="square" lIns="0" tIns="0" rIns="0" bIns="0" rtlCol="0" anchor="ctr"/>
          <a:lstStyle/>
          <a:p>
            <a:pPr marL="0" indent="0">
              <a:buNone/>
            </a:pPr>
            <a:r>
              <a:rPr lang="en-US" sz="1250" b="1" dirty="0">
                <a:solidFill>
                  <a:srgbClr val="2F75B5"/>
                </a:solidFill>
              </a:rPr>
              <a:t>Customer type trend</a:t>
            </a:r>
            <a:endParaRPr lang="en-US" sz="1250" dirty="0"/>
          </a:p>
        </p:txBody>
      </p:sp>
      <p:sp>
        <p:nvSpPr>
          <p:cNvPr id="27" name="Text 25"/>
          <p:cNvSpPr/>
          <p:nvPr/>
        </p:nvSpPr>
        <p:spPr>
          <a:xfrm>
            <a:off x="3063240" y="5074920"/>
            <a:ext cx="7863840" cy="228600"/>
          </a:xfrm>
          <a:prstGeom prst="rect">
            <a:avLst/>
          </a:prstGeom>
          <a:noFill/>
          <a:ln/>
        </p:spPr>
        <p:txBody>
          <a:bodyPr wrap="square" lIns="0" tIns="0" rIns="0" bIns="0" rtlCol="0" anchor="ctr"/>
          <a:lstStyle/>
          <a:p>
            <a:pPr marL="0" indent="0">
              <a:buNone/>
            </a:pPr>
            <a:r>
              <a:rPr lang="en-US" sz="1250" dirty="0">
                <a:solidFill>
                  <a:srgbClr val="222222"/>
                </a:solidFill>
              </a:rPr>
              <a:t>Retail revenue was slightly higher than wholesale.</a:t>
            </a:r>
            <a:endParaRPr lang="en-US" sz="1250" dirty="0"/>
          </a:p>
        </p:txBody>
      </p:sp>
      <p:sp>
        <p:nvSpPr>
          <p:cNvPr id="28" name="Text 26"/>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201168"/>
            <a:ext cx="11430000" cy="411480"/>
          </a:xfrm>
          <a:prstGeom prst="rect">
            <a:avLst/>
          </a:prstGeom>
          <a:noFill/>
          <a:ln/>
        </p:spPr>
        <p:txBody>
          <a:bodyPr wrap="square" lIns="0" tIns="0" rIns="0" bIns="0" rtlCol="0" anchor="ctr"/>
          <a:lstStyle/>
          <a:p>
            <a:pPr marL="0" indent="0">
              <a:buNone/>
            </a:pPr>
            <a:r>
              <a:rPr lang="en-US" sz="2800" b="1" dirty="0">
                <a:solidFill>
                  <a:srgbClr val="173B57"/>
                </a:solidFill>
                <a:latin typeface="Aptos Display" pitchFamily="34" charset="0"/>
                <a:ea typeface="Aptos Display" pitchFamily="34" charset="-122"/>
                <a:cs typeface="Aptos Display" pitchFamily="34" charset="-120"/>
              </a:rPr>
              <a:t>Regional and Monthly Performance</a:t>
            </a:r>
            <a:endParaRPr lang="en-US" sz="2800" dirty="0"/>
          </a:p>
        </p:txBody>
      </p:sp>
      <p:sp>
        <p:nvSpPr>
          <p:cNvPr id="3" name="Text 1"/>
          <p:cNvSpPr/>
          <p:nvPr/>
        </p:nvSpPr>
        <p:spPr>
          <a:xfrm>
            <a:off x="384048" y="713232"/>
            <a:ext cx="11338560" cy="256032"/>
          </a:xfrm>
          <a:prstGeom prst="rect">
            <a:avLst/>
          </a:prstGeom>
          <a:noFill/>
          <a:ln/>
        </p:spPr>
        <p:txBody>
          <a:bodyPr wrap="square" lIns="0" tIns="0" rIns="0" bIns="0" rtlCol="0" anchor="ctr"/>
          <a:lstStyle/>
          <a:p>
            <a:pPr marL="0" indent="0">
              <a:buNone/>
            </a:pPr>
            <a:r>
              <a:rPr lang="en-US" sz="1250" dirty="0">
                <a:solidFill>
                  <a:srgbClr val="666666"/>
                </a:solidFill>
              </a:rPr>
              <a:t>East leads regionally, while April is the strongest month in the final workbook.</a:t>
            </a:r>
            <a:endParaRPr lang="en-US" sz="1250" dirty="0"/>
          </a:p>
        </p:txBody>
      </p:sp>
      <p:sp>
        <p:nvSpPr>
          <p:cNvPr id="4" name="Shape 2"/>
          <p:cNvSpPr/>
          <p:nvPr/>
        </p:nvSpPr>
        <p:spPr>
          <a:xfrm>
            <a:off x="320040" y="1024128"/>
            <a:ext cx="11521440" cy="0"/>
          </a:xfrm>
          <a:prstGeom prst="line">
            <a:avLst/>
          </a:prstGeom>
          <a:noFill/>
          <a:ln w="25400">
            <a:solidFill>
              <a:srgbClr val="2F75B5"/>
            </a:solidFill>
            <a:prstDash val="solid"/>
          </a:ln>
        </p:spPr>
        <p:txBody>
          <a:bodyPr/>
          <a:lstStyle/>
          <a:p>
            <a:endParaRPr lang="en-US"/>
          </a:p>
        </p:txBody>
      </p:sp>
      <p:graphicFrame>
        <p:nvGraphicFramePr>
          <p:cNvPr id="5" name="Chart 0"/>
          <p:cNvGraphicFramePr/>
          <p:nvPr/>
        </p:nvGraphicFramePr>
        <p:xfrm>
          <a:off x="548640" y="1325880"/>
          <a:ext cx="5257800" cy="420624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172200" y="1325880"/>
          <a:ext cx="525780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685800" y="5779008"/>
            <a:ext cx="10789920" cy="411480"/>
          </a:xfrm>
          <a:prstGeom prst="rect">
            <a:avLst/>
          </a:prstGeom>
          <a:noFill/>
          <a:ln/>
        </p:spPr>
        <p:txBody>
          <a:bodyPr wrap="square" lIns="0" tIns="0" rIns="0" bIns="0" rtlCol="0" anchor="ctr">
            <a:normAutofit/>
          </a:bodyPr>
          <a:lstStyle/>
          <a:p>
            <a:pPr marL="0" indent="0">
              <a:buNone/>
            </a:pPr>
            <a:r>
              <a:rPr lang="en-US" sz="1250" dirty="0">
                <a:solidFill>
                  <a:srgbClr val="333333"/>
                </a:solidFill>
              </a:rPr>
              <a:t>Insight: East and West are close leaders. South needs targeted sales support. April is the strongest month; September is the lowest month in the data.</a:t>
            </a:r>
            <a:endParaRPr lang="en-US" sz="1250" dirty="0"/>
          </a:p>
        </p:txBody>
      </p:sp>
      <p:sp>
        <p:nvSpPr>
          <p:cNvPr id="8" name="Text 4"/>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201168"/>
            <a:ext cx="11430000" cy="411480"/>
          </a:xfrm>
          <a:prstGeom prst="rect">
            <a:avLst/>
          </a:prstGeom>
          <a:noFill/>
          <a:ln/>
        </p:spPr>
        <p:txBody>
          <a:bodyPr wrap="square" lIns="0" tIns="0" rIns="0" bIns="0" rtlCol="0" anchor="ctr"/>
          <a:lstStyle/>
          <a:p>
            <a:pPr marL="0" indent="0">
              <a:buNone/>
            </a:pPr>
            <a:r>
              <a:rPr lang="en-US" sz="2800" b="1" dirty="0">
                <a:solidFill>
                  <a:srgbClr val="173B57"/>
                </a:solidFill>
                <a:latin typeface="Aptos Display" pitchFamily="34" charset="0"/>
                <a:ea typeface="Aptos Display" pitchFamily="34" charset="-122"/>
                <a:cs typeface="Aptos Display" pitchFamily="34" charset="-120"/>
              </a:rPr>
              <a:t>Product and Salesperson Performance</a:t>
            </a:r>
            <a:endParaRPr lang="en-US" sz="2800" dirty="0"/>
          </a:p>
        </p:txBody>
      </p:sp>
      <p:sp>
        <p:nvSpPr>
          <p:cNvPr id="3" name="Text 1"/>
          <p:cNvSpPr/>
          <p:nvPr/>
        </p:nvSpPr>
        <p:spPr>
          <a:xfrm>
            <a:off x="384048" y="713232"/>
            <a:ext cx="11338560" cy="256032"/>
          </a:xfrm>
          <a:prstGeom prst="rect">
            <a:avLst/>
          </a:prstGeom>
          <a:noFill/>
          <a:ln/>
        </p:spPr>
        <p:txBody>
          <a:bodyPr wrap="square" lIns="0" tIns="0" rIns="0" bIns="0" rtlCol="0" anchor="ctr"/>
          <a:lstStyle/>
          <a:p>
            <a:pPr marL="0" indent="0">
              <a:buNone/>
            </a:pPr>
            <a:r>
              <a:rPr lang="en-US" sz="1250" dirty="0">
                <a:solidFill>
                  <a:srgbClr val="666666"/>
                </a:solidFill>
              </a:rPr>
              <a:t>Top product and salesperson results come from the final Excel calculations.</a:t>
            </a:r>
            <a:endParaRPr lang="en-US" sz="1250" dirty="0"/>
          </a:p>
        </p:txBody>
      </p:sp>
      <p:sp>
        <p:nvSpPr>
          <p:cNvPr id="4" name="Shape 2"/>
          <p:cNvSpPr/>
          <p:nvPr/>
        </p:nvSpPr>
        <p:spPr>
          <a:xfrm>
            <a:off x="320040" y="1024128"/>
            <a:ext cx="11521440" cy="0"/>
          </a:xfrm>
          <a:prstGeom prst="line">
            <a:avLst/>
          </a:prstGeom>
          <a:noFill/>
          <a:ln w="25400">
            <a:solidFill>
              <a:srgbClr val="2F75B5"/>
            </a:solidFill>
            <a:prstDash val="solid"/>
          </a:ln>
        </p:spPr>
        <p:txBody>
          <a:bodyPr/>
          <a:lstStyle/>
          <a:p>
            <a:endParaRPr lang="en-US"/>
          </a:p>
        </p:txBody>
      </p:sp>
      <p:graphicFrame>
        <p:nvGraphicFramePr>
          <p:cNvPr id="5" name="Chart 0"/>
          <p:cNvGraphicFramePr/>
          <p:nvPr/>
        </p:nvGraphicFramePr>
        <p:xfrm>
          <a:off x="502920" y="1234440"/>
          <a:ext cx="5577840" cy="45262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nvGraphicFramePr>
        <p:xfrm>
          <a:off x="6355080" y="1234440"/>
          <a:ext cx="5349240" cy="4526280"/>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 3"/>
          <p:cNvSpPr/>
          <p:nvPr/>
        </p:nvSpPr>
        <p:spPr>
          <a:xfrm>
            <a:off x="685800" y="5806440"/>
            <a:ext cx="10789920" cy="384048"/>
          </a:xfrm>
          <a:prstGeom prst="rect">
            <a:avLst/>
          </a:prstGeom>
          <a:noFill/>
          <a:ln/>
        </p:spPr>
        <p:txBody>
          <a:bodyPr wrap="square" lIns="0" tIns="0" rIns="0" bIns="0" rtlCol="0" anchor="ctr">
            <a:normAutofit/>
          </a:bodyPr>
          <a:lstStyle/>
          <a:p>
            <a:pPr marL="0" indent="0">
              <a:buNone/>
            </a:pPr>
            <a:r>
              <a:rPr lang="en-US" sz="1250" dirty="0">
                <a:solidFill>
                  <a:srgbClr val="333333"/>
                </a:solidFill>
              </a:rPr>
              <a:t>Insight: Stainless Cookware Set and Ergonomic Office Chair drive the highest product revenue. Benjamin Moore and Noah Brown are the strongest sales contributors.</a:t>
            </a:r>
            <a:endParaRPr lang="en-US" sz="1250" dirty="0"/>
          </a:p>
        </p:txBody>
      </p:sp>
      <p:sp>
        <p:nvSpPr>
          <p:cNvPr id="8" name="Text 4"/>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201168"/>
            <a:ext cx="11430000" cy="411480"/>
          </a:xfrm>
          <a:prstGeom prst="rect">
            <a:avLst/>
          </a:prstGeom>
          <a:noFill/>
          <a:ln/>
        </p:spPr>
        <p:txBody>
          <a:bodyPr wrap="square" lIns="0" tIns="0" rIns="0" bIns="0" rtlCol="0" anchor="ctr"/>
          <a:lstStyle/>
          <a:p>
            <a:pPr marL="0" indent="0">
              <a:buNone/>
            </a:pPr>
            <a:r>
              <a:rPr lang="en-US" sz="2800" b="1" dirty="0">
                <a:solidFill>
                  <a:srgbClr val="173B57"/>
                </a:solidFill>
                <a:latin typeface="Aptos Display" pitchFamily="34" charset="0"/>
                <a:ea typeface="Aptos Display" pitchFamily="34" charset="-122"/>
                <a:cs typeface="Aptos Display" pitchFamily="34" charset="-120"/>
              </a:rPr>
              <a:t>Customer Type Analysis</a:t>
            </a:r>
            <a:endParaRPr lang="en-US" sz="2800" dirty="0"/>
          </a:p>
        </p:txBody>
      </p:sp>
      <p:sp>
        <p:nvSpPr>
          <p:cNvPr id="3" name="Text 1"/>
          <p:cNvSpPr/>
          <p:nvPr/>
        </p:nvSpPr>
        <p:spPr>
          <a:xfrm>
            <a:off x="384048" y="713232"/>
            <a:ext cx="11338560" cy="256032"/>
          </a:xfrm>
          <a:prstGeom prst="rect">
            <a:avLst/>
          </a:prstGeom>
          <a:noFill/>
          <a:ln/>
        </p:spPr>
        <p:txBody>
          <a:bodyPr wrap="square" lIns="0" tIns="0" rIns="0" bIns="0" rtlCol="0" anchor="ctr"/>
          <a:lstStyle/>
          <a:p>
            <a:pPr marL="0" indent="0">
              <a:buNone/>
            </a:pPr>
            <a:r>
              <a:rPr lang="en-US" sz="1250" dirty="0">
                <a:solidFill>
                  <a:srgbClr val="666666"/>
                </a:solidFill>
              </a:rPr>
              <a:t>Retail customers generated slightly more revenue, while wholesale remains a major revenue source.</a:t>
            </a:r>
            <a:endParaRPr lang="en-US" sz="1250" dirty="0"/>
          </a:p>
        </p:txBody>
      </p:sp>
      <p:sp>
        <p:nvSpPr>
          <p:cNvPr id="4" name="Shape 2"/>
          <p:cNvSpPr/>
          <p:nvPr/>
        </p:nvSpPr>
        <p:spPr>
          <a:xfrm>
            <a:off x="320040" y="1024128"/>
            <a:ext cx="11521440" cy="0"/>
          </a:xfrm>
          <a:prstGeom prst="line">
            <a:avLst/>
          </a:prstGeom>
          <a:noFill/>
          <a:ln w="25400">
            <a:solidFill>
              <a:srgbClr val="2F75B5"/>
            </a:solidFill>
            <a:prstDash val="solid"/>
          </a:ln>
        </p:spPr>
        <p:txBody>
          <a:bodyPr/>
          <a:lstStyle/>
          <a:p>
            <a:endParaRPr lang="en-US"/>
          </a:p>
        </p:txBody>
      </p:sp>
      <p:graphicFrame>
        <p:nvGraphicFramePr>
          <p:cNvPr id="5" name="Chart 0"/>
          <p:cNvGraphicFramePr/>
          <p:nvPr/>
        </p:nvGraphicFramePr>
        <p:xfrm>
          <a:off x="777240" y="1417320"/>
          <a:ext cx="4572000" cy="4251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6126480" y="1508760"/>
            <a:ext cx="251460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7" name="Text 4"/>
          <p:cNvSpPr/>
          <p:nvPr/>
        </p:nvSpPr>
        <p:spPr>
          <a:xfrm>
            <a:off x="6263640" y="1627632"/>
            <a:ext cx="2240280" cy="201168"/>
          </a:xfrm>
          <a:prstGeom prst="rect">
            <a:avLst/>
          </a:prstGeom>
          <a:noFill/>
          <a:ln/>
        </p:spPr>
        <p:txBody>
          <a:bodyPr wrap="square" lIns="0" tIns="0" rIns="0" bIns="0" rtlCol="0" anchor="ctr"/>
          <a:lstStyle/>
          <a:p>
            <a:pPr marL="0" indent="0">
              <a:buNone/>
            </a:pPr>
            <a:r>
              <a:rPr lang="en-US" sz="1050" b="1" dirty="0">
                <a:solidFill>
                  <a:srgbClr val="666666"/>
                </a:solidFill>
              </a:rPr>
              <a:t>Retail Revenue</a:t>
            </a:r>
            <a:endParaRPr lang="en-US" sz="1050" dirty="0"/>
          </a:p>
        </p:txBody>
      </p:sp>
      <p:sp>
        <p:nvSpPr>
          <p:cNvPr id="8" name="Text 5"/>
          <p:cNvSpPr/>
          <p:nvPr/>
        </p:nvSpPr>
        <p:spPr>
          <a:xfrm>
            <a:off x="6263640" y="1892808"/>
            <a:ext cx="2240280" cy="393192"/>
          </a:xfrm>
          <a:prstGeom prst="rect">
            <a:avLst/>
          </a:prstGeom>
          <a:noFill/>
          <a:ln/>
        </p:spPr>
        <p:txBody>
          <a:bodyPr wrap="square" lIns="0" tIns="0" rIns="0" bIns="0" rtlCol="0" anchor="ctr"/>
          <a:lstStyle/>
          <a:p>
            <a:pPr marL="0" indent="0">
              <a:buNone/>
            </a:pPr>
            <a:r>
              <a:rPr lang="en-US" sz="2200" b="1" dirty="0">
                <a:solidFill>
                  <a:srgbClr val="173B57"/>
                </a:solidFill>
              </a:rPr>
              <a:t>$125,069</a:t>
            </a:r>
            <a:endParaRPr lang="en-US" sz="2200" dirty="0"/>
          </a:p>
        </p:txBody>
      </p:sp>
      <p:sp>
        <p:nvSpPr>
          <p:cNvPr id="9" name="Shape 6"/>
          <p:cNvSpPr/>
          <p:nvPr/>
        </p:nvSpPr>
        <p:spPr>
          <a:xfrm>
            <a:off x="9006840" y="1508760"/>
            <a:ext cx="2514600" cy="960120"/>
          </a:xfrm>
          <a:prstGeom prst="roundRect">
            <a:avLst>
              <a:gd name="adj" fmla="val 7619"/>
            </a:avLst>
          </a:prstGeom>
          <a:solidFill>
            <a:srgbClr val="F6F8FB"/>
          </a:solidFill>
          <a:ln w="12700">
            <a:solidFill>
              <a:srgbClr val="D9E2EF"/>
            </a:solidFill>
            <a:prstDash val="solid"/>
          </a:ln>
        </p:spPr>
        <p:txBody>
          <a:bodyPr/>
          <a:lstStyle/>
          <a:p>
            <a:endParaRPr lang="en-US"/>
          </a:p>
        </p:txBody>
      </p:sp>
      <p:sp>
        <p:nvSpPr>
          <p:cNvPr id="10" name="Text 7"/>
          <p:cNvSpPr/>
          <p:nvPr/>
        </p:nvSpPr>
        <p:spPr>
          <a:xfrm>
            <a:off x="9144000" y="1627632"/>
            <a:ext cx="2240280" cy="201168"/>
          </a:xfrm>
          <a:prstGeom prst="rect">
            <a:avLst/>
          </a:prstGeom>
          <a:noFill/>
          <a:ln/>
        </p:spPr>
        <p:txBody>
          <a:bodyPr wrap="square" lIns="0" tIns="0" rIns="0" bIns="0" rtlCol="0" anchor="ctr"/>
          <a:lstStyle/>
          <a:p>
            <a:pPr marL="0" indent="0">
              <a:buNone/>
            </a:pPr>
            <a:r>
              <a:rPr lang="en-US" sz="1050" b="1" dirty="0">
                <a:solidFill>
                  <a:srgbClr val="666666"/>
                </a:solidFill>
              </a:rPr>
              <a:t>Wholesale Revenue</a:t>
            </a:r>
            <a:endParaRPr lang="en-US" sz="1050" dirty="0"/>
          </a:p>
        </p:txBody>
      </p:sp>
      <p:sp>
        <p:nvSpPr>
          <p:cNvPr id="11" name="Text 8"/>
          <p:cNvSpPr/>
          <p:nvPr/>
        </p:nvSpPr>
        <p:spPr>
          <a:xfrm>
            <a:off x="9144000" y="1892808"/>
            <a:ext cx="2240280" cy="393192"/>
          </a:xfrm>
          <a:prstGeom prst="rect">
            <a:avLst/>
          </a:prstGeom>
          <a:noFill/>
          <a:ln/>
        </p:spPr>
        <p:txBody>
          <a:bodyPr wrap="square" lIns="0" tIns="0" rIns="0" bIns="0" rtlCol="0" anchor="ctr"/>
          <a:lstStyle/>
          <a:p>
            <a:pPr marL="0" indent="0">
              <a:buNone/>
            </a:pPr>
            <a:r>
              <a:rPr lang="en-US" sz="2200" b="1" dirty="0">
                <a:solidFill>
                  <a:srgbClr val="173B57"/>
                </a:solidFill>
              </a:rPr>
              <a:t>$114,439</a:t>
            </a:r>
            <a:endParaRPr lang="en-US" sz="2200" dirty="0"/>
          </a:p>
        </p:txBody>
      </p:sp>
      <p:sp>
        <p:nvSpPr>
          <p:cNvPr id="12" name="Text 9"/>
          <p:cNvSpPr/>
          <p:nvPr/>
        </p:nvSpPr>
        <p:spPr>
          <a:xfrm>
            <a:off x="6172200" y="2926080"/>
            <a:ext cx="3657600" cy="320040"/>
          </a:xfrm>
          <a:prstGeom prst="rect">
            <a:avLst/>
          </a:prstGeom>
          <a:noFill/>
          <a:ln/>
        </p:spPr>
        <p:txBody>
          <a:bodyPr wrap="square" lIns="0" tIns="0" rIns="0" bIns="0" rtlCol="0" anchor="ctr"/>
          <a:lstStyle/>
          <a:p>
            <a:pPr marL="0" indent="0">
              <a:buNone/>
            </a:pPr>
            <a:r>
              <a:rPr lang="en-US" sz="1900" b="1" dirty="0">
                <a:solidFill>
                  <a:srgbClr val="173B57"/>
                </a:solidFill>
              </a:rPr>
              <a:t>What it means</a:t>
            </a:r>
            <a:endParaRPr lang="en-US" sz="1900" dirty="0"/>
          </a:p>
        </p:txBody>
      </p:sp>
      <p:sp>
        <p:nvSpPr>
          <p:cNvPr id="13" name="Text 10"/>
          <p:cNvSpPr/>
          <p:nvPr/>
        </p:nvSpPr>
        <p:spPr>
          <a:xfrm>
            <a:off x="6199632" y="3401568"/>
            <a:ext cx="5029200" cy="731520"/>
          </a:xfrm>
          <a:prstGeom prst="rect">
            <a:avLst/>
          </a:prstGeom>
          <a:noFill/>
          <a:ln/>
        </p:spPr>
        <p:txBody>
          <a:bodyPr wrap="square" lIns="254" tIns="254" rIns="254" bIns="254" rtlCol="0" anchor="ctr">
            <a:normAutofit/>
          </a:bodyPr>
          <a:lstStyle/>
          <a:p>
            <a:pPr marL="0" indent="0">
              <a:buNone/>
            </a:pPr>
            <a:r>
              <a:rPr lang="en-US" sz="1300" dirty="0">
                <a:solidFill>
                  <a:srgbClr val="333333"/>
                </a:solidFill>
              </a:rPr>
              <a:t>Retail produces about 52% of revenue. Wholesale is close behind at about 48%, so leadership should protect both channels instead of focusing only on one.</a:t>
            </a:r>
            <a:endParaRPr lang="en-US" sz="1300" dirty="0"/>
          </a:p>
        </p:txBody>
      </p:sp>
      <p:sp>
        <p:nvSpPr>
          <p:cNvPr id="14" name="Text 11"/>
          <p:cNvSpPr/>
          <p:nvPr/>
        </p:nvSpPr>
        <p:spPr>
          <a:xfrm>
            <a:off x="6199632" y="4343400"/>
            <a:ext cx="5029200" cy="822960"/>
          </a:xfrm>
          <a:prstGeom prst="rect">
            <a:avLst/>
          </a:prstGeom>
          <a:noFill/>
          <a:ln/>
        </p:spPr>
        <p:txBody>
          <a:bodyPr wrap="square" lIns="254" tIns="254" rIns="254" bIns="254" rtlCol="0" anchor="ctr">
            <a:normAutofit/>
          </a:bodyPr>
          <a:lstStyle/>
          <a:p>
            <a:pPr marL="0" indent="0">
              <a:buNone/>
            </a:pPr>
            <a:r>
              <a:rPr lang="en-US" sz="1300" dirty="0">
                <a:solidFill>
                  <a:srgbClr val="333333"/>
                </a:solidFill>
              </a:rPr>
              <a:t>Business implication: retail promotions can grow revenue, but wholesale retention is also important because wholesale customers represent a large share of sales volume.</a:t>
            </a:r>
            <a:endParaRPr lang="en-US" sz="1300" dirty="0"/>
          </a:p>
        </p:txBody>
      </p:sp>
      <p:sp>
        <p:nvSpPr>
          <p:cNvPr id="15" name="Text 12"/>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201168"/>
            <a:ext cx="11430000" cy="411480"/>
          </a:xfrm>
          <a:prstGeom prst="rect">
            <a:avLst/>
          </a:prstGeom>
          <a:noFill/>
          <a:ln/>
        </p:spPr>
        <p:txBody>
          <a:bodyPr wrap="square" lIns="0" tIns="0" rIns="0" bIns="0" rtlCol="0" anchor="ctr"/>
          <a:lstStyle/>
          <a:p>
            <a:pPr marL="0" indent="0">
              <a:buNone/>
            </a:pPr>
            <a:r>
              <a:rPr lang="en-US" sz="2800" b="1" dirty="0">
                <a:solidFill>
                  <a:srgbClr val="173B57"/>
                </a:solidFill>
                <a:latin typeface="Aptos Display" pitchFamily="34" charset="0"/>
                <a:ea typeface="Aptos Display" pitchFamily="34" charset="-122"/>
                <a:cs typeface="Aptos Display" pitchFamily="34" charset="-120"/>
              </a:rPr>
              <a:t>Recommendations for Leadership</a:t>
            </a:r>
            <a:endParaRPr lang="en-US" sz="2800" dirty="0"/>
          </a:p>
        </p:txBody>
      </p:sp>
      <p:sp>
        <p:nvSpPr>
          <p:cNvPr id="3" name="Text 1"/>
          <p:cNvSpPr/>
          <p:nvPr/>
        </p:nvSpPr>
        <p:spPr>
          <a:xfrm>
            <a:off x="384048" y="713232"/>
            <a:ext cx="11338560" cy="256032"/>
          </a:xfrm>
          <a:prstGeom prst="rect">
            <a:avLst/>
          </a:prstGeom>
          <a:noFill/>
          <a:ln/>
        </p:spPr>
        <p:txBody>
          <a:bodyPr wrap="square" lIns="0" tIns="0" rIns="0" bIns="0" rtlCol="0" anchor="ctr"/>
          <a:lstStyle/>
          <a:p>
            <a:pPr marL="0" indent="0">
              <a:buNone/>
            </a:pPr>
            <a:r>
              <a:rPr lang="en-US" sz="1250" dirty="0">
                <a:solidFill>
                  <a:srgbClr val="666666"/>
                </a:solidFill>
              </a:rPr>
              <a:t>Actions should focus on growth opportunities and underperforming areas.</a:t>
            </a:r>
            <a:endParaRPr lang="en-US" sz="1250" dirty="0"/>
          </a:p>
        </p:txBody>
      </p:sp>
      <p:sp>
        <p:nvSpPr>
          <p:cNvPr id="4" name="Shape 2"/>
          <p:cNvSpPr/>
          <p:nvPr/>
        </p:nvSpPr>
        <p:spPr>
          <a:xfrm>
            <a:off x="320040" y="1024128"/>
            <a:ext cx="11521440" cy="0"/>
          </a:xfrm>
          <a:prstGeom prst="line">
            <a:avLst/>
          </a:prstGeom>
          <a:noFill/>
          <a:ln w="25400">
            <a:solidFill>
              <a:srgbClr val="2F75B5"/>
            </a:solidFill>
            <a:prstDash val="solid"/>
          </a:ln>
        </p:spPr>
        <p:txBody>
          <a:bodyPr/>
          <a:lstStyle/>
          <a:p>
            <a:endParaRPr lang="en-US"/>
          </a:p>
        </p:txBody>
      </p:sp>
      <p:sp>
        <p:nvSpPr>
          <p:cNvPr id="5" name="Text 3"/>
          <p:cNvSpPr/>
          <p:nvPr/>
        </p:nvSpPr>
        <p:spPr>
          <a:xfrm>
            <a:off x="685800" y="1325880"/>
            <a:ext cx="3840480" cy="228600"/>
          </a:xfrm>
          <a:prstGeom prst="rect">
            <a:avLst/>
          </a:prstGeom>
          <a:noFill/>
          <a:ln/>
        </p:spPr>
        <p:txBody>
          <a:bodyPr wrap="square" lIns="0" tIns="0" rIns="0" bIns="0" rtlCol="0" anchor="ctr"/>
          <a:lstStyle/>
          <a:p>
            <a:pPr marL="0" indent="0">
              <a:buNone/>
            </a:pPr>
            <a:r>
              <a:rPr lang="en-US" sz="1400" b="1" dirty="0">
                <a:solidFill>
                  <a:srgbClr val="2F75B5"/>
                </a:solidFill>
              </a:rPr>
              <a:t>1. Strengthen the South region</a:t>
            </a:r>
            <a:endParaRPr lang="en-US" sz="1400" dirty="0"/>
          </a:p>
        </p:txBody>
      </p:sp>
      <p:sp>
        <p:nvSpPr>
          <p:cNvPr id="6" name="Text 4"/>
          <p:cNvSpPr/>
          <p:nvPr/>
        </p:nvSpPr>
        <p:spPr>
          <a:xfrm>
            <a:off x="868680" y="1627632"/>
            <a:ext cx="10561320" cy="292608"/>
          </a:xfrm>
          <a:prstGeom prst="rect">
            <a:avLst/>
          </a:prstGeom>
          <a:noFill/>
          <a:ln/>
        </p:spPr>
        <p:txBody>
          <a:bodyPr wrap="square" lIns="0" tIns="0" rIns="0" bIns="0" rtlCol="0" anchor="ctr">
            <a:normAutofit/>
          </a:bodyPr>
          <a:lstStyle/>
          <a:p>
            <a:pPr marL="0" indent="0">
              <a:buNone/>
            </a:pPr>
            <a:r>
              <a:rPr lang="en-US" sz="1250" dirty="0">
                <a:solidFill>
                  <a:srgbClr val="333333"/>
                </a:solidFill>
              </a:rPr>
              <a:t>South is the lowest region at $42,152, so Keystone should review sales coverage, local promotions, and product availability.</a:t>
            </a:r>
            <a:endParaRPr lang="en-US" sz="1250" dirty="0"/>
          </a:p>
        </p:txBody>
      </p:sp>
      <p:sp>
        <p:nvSpPr>
          <p:cNvPr id="7" name="Text 5"/>
          <p:cNvSpPr/>
          <p:nvPr/>
        </p:nvSpPr>
        <p:spPr>
          <a:xfrm>
            <a:off x="685800" y="2176272"/>
            <a:ext cx="3840480" cy="228600"/>
          </a:xfrm>
          <a:prstGeom prst="rect">
            <a:avLst/>
          </a:prstGeom>
          <a:noFill/>
          <a:ln/>
        </p:spPr>
        <p:txBody>
          <a:bodyPr wrap="square" lIns="0" tIns="0" rIns="0" bIns="0" rtlCol="0" anchor="ctr"/>
          <a:lstStyle/>
          <a:p>
            <a:pPr marL="0" indent="0">
              <a:buNone/>
            </a:pPr>
            <a:r>
              <a:rPr lang="en-US" sz="1400" b="1" dirty="0">
                <a:solidFill>
                  <a:srgbClr val="2F75B5"/>
                </a:solidFill>
              </a:rPr>
              <a:t>2. Protect top products</a:t>
            </a:r>
            <a:endParaRPr lang="en-US" sz="1400" dirty="0"/>
          </a:p>
        </p:txBody>
      </p:sp>
      <p:sp>
        <p:nvSpPr>
          <p:cNvPr id="8" name="Text 6"/>
          <p:cNvSpPr/>
          <p:nvPr/>
        </p:nvSpPr>
        <p:spPr>
          <a:xfrm>
            <a:off x="868680" y="2478024"/>
            <a:ext cx="10561320" cy="292608"/>
          </a:xfrm>
          <a:prstGeom prst="rect">
            <a:avLst/>
          </a:prstGeom>
          <a:noFill/>
          <a:ln/>
        </p:spPr>
        <p:txBody>
          <a:bodyPr wrap="square" lIns="0" tIns="0" rIns="0" bIns="0" rtlCol="0" anchor="ctr">
            <a:normAutofit/>
          </a:bodyPr>
          <a:lstStyle/>
          <a:p>
            <a:pPr marL="0" indent="0">
              <a:buNone/>
            </a:pPr>
            <a:r>
              <a:rPr lang="en-US" sz="1250" dirty="0">
                <a:solidFill>
                  <a:srgbClr val="333333"/>
                </a:solidFill>
              </a:rPr>
              <a:t>Stainless Cookware Set and Ergonomic Office Chair should receive inventory priority and targeted promotions.</a:t>
            </a:r>
            <a:endParaRPr lang="en-US" sz="1250" dirty="0"/>
          </a:p>
        </p:txBody>
      </p:sp>
      <p:sp>
        <p:nvSpPr>
          <p:cNvPr id="9" name="Text 7"/>
          <p:cNvSpPr/>
          <p:nvPr/>
        </p:nvSpPr>
        <p:spPr>
          <a:xfrm>
            <a:off x="685800" y="3026664"/>
            <a:ext cx="3840480" cy="228600"/>
          </a:xfrm>
          <a:prstGeom prst="rect">
            <a:avLst/>
          </a:prstGeom>
          <a:noFill/>
          <a:ln/>
        </p:spPr>
        <p:txBody>
          <a:bodyPr wrap="square" lIns="0" tIns="0" rIns="0" bIns="0" rtlCol="0" anchor="ctr"/>
          <a:lstStyle/>
          <a:p>
            <a:pPr marL="0" indent="0">
              <a:buNone/>
            </a:pPr>
            <a:r>
              <a:rPr lang="en-US" sz="1400" b="1" dirty="0">
                <a:solidFill>
                  <a:srgbClr val="2F75B5"/>
                </a:solidFill>
              </a:rPr>
              <a:t>3. Share top-salesperson practices</a:t>
            </a:r>
            <a:endParaRPr lang="en-US" sz="1400" dirty="0"/>
          </a:p>
        </p:txBody>
      </p:sp>
      <p:sp>
        <p:nvSpPr>
          <p:cNvPr id="10" name="Text 8"/>
          <p:cNvSpPr/>
          <p:nvPr/>
        </p:nvSpPr>
        <p:spPr>
          <a:xfrm>
            <a:off x="868680" y="3328416"/>
            <a:ext cx="10561320" cy="292608"/>
          </a:xfrm>
          <a:prstGeom prst="rect">
            <a:avLst/>
          </a:prstGeom>
          <a:noFill/>
          <a:ln/>
        </p:spPr>
        <p:txBody>
          <a:bodyPr wrap="square" lIns="0" tIns="0" rIns="0" bIns="0" rtlCol="0" anchor="ctr">
            <a:normAutofit/>
          </a:bodyPr>
          <a:lstStyle/>
          <a:p>
            <a:pPr marL="0" indent="0">
              <a:buNone/>
            </a:pPr>
            <a:r>
              <a:rPr lang="en-US" sz="1250" dirty="0">
                <a:solidFill>
                  <a:srgbClr val="333333"/>
                </a:solidFill>
              </a:rPr>
              <a:t>Benjamin Moore and Noah Brown can provide useful examples for closing sales and managing customers.</a:t>
            </a:r>
            <a:endParaRPr lang="en-US" sz="1250" dirty="0"/>
          </a:p>
        </p:txBody>
      </p:sp>
      <p:sp>
        <p:nvSpPr>
          <p:cNvPr id="11" name="Text 9"/>
          <p:cNvSpPr/>
          <p:nvPr/>
        </p:nvSpPr>
        <p:spPr>
          <a:xfrm>
            <a:off x="685800" y="3877056"/>
            <a:ext cx="3840480" cy="228600"/>
          </a:xfrm>
          <a:prstGeom prst="rect">
            <a:avLst/>
          </a:prstGeom>
          <a:noFill/>
          <a:ln/>
        </p:spPr>
        <p:txBody>
          <a:bodyPr wrap="square" lIns="0" tIns="0" rIns="0" bIns="0" rtlCol="0" anchor="ctr"/>
          <a:lstStyle/>
          <a:p>
            <a:pPr marL="0" indent="0">
              <a:buNone/>
            </a:pPr>
            <a:r>
              <a:rPr lang="en-US" sz="1400" b="1" dirty="0">
                <a:solidFill>
                  <a:srgbClr val="2F75B5"/>
                </a:solidFill>
              </a:rPr>
              <a:t>4. Plan around seasonality</a:t>
            </a:r>
            <a:endParaRPr lang="en-US" sz="1400" dirty="0"/>
          </a:p>
        </p:txBody>
      </p:sp>
      <p:sp>
        <p:nvSpPr>
          <p:cNvPr id="12" name="Text 10"/>
          <p:cNvSpPr/>
          <p:nvPr/>
        </p:nvSpPr>
        <p:spPr>
          <a:xfrm>
            <a:off x="868680" y="4178808"/>
            <a:ext cx="10561320" cy="292608"/>
          </a:xfrm>
          <a:prstGeom prst="rect">
            <a:avLst/>
          </a:prstGeom>
          <a:noFill/>
          <a:ln/>
        </p:spPr>
        <p:txBody>
          <a:bodyPr wrap="square" lIns="0" tIns="0" rIns="0" bIns="0" rtlCol="0" anchor="ctr">
            <a:normAutofit/>
          </a:bodyPr>
          <a:lstStyle/>
          <a:p>
            <a:pPr marL="0" indent="0">
              <a:buNone/>
            </a:pPr>
            <a:r>
              <a:rPr lang="en-US" sz="1250" dirty="0">
                <a:solidFill>
                  <a:srgbClr val="333333"/>
                </a:solidFill>
              </a:rPr>
              <a:t>April was the strongest month, while September was the lowest, so leadership should review marketing timing and demand patterns.</a:t>
            </a:r>
            <a:endParaRPr lang="en-US" sz="1250" dirty="0"/>
          </a:p>
        </p:txBody>
      </p:sp>
      <p:sp>
        <p:nvSpPr>
          <p:cNvPr id="13" name="Text 11"/>
          <p:cNvSpPr/>
          <p:nvPr/>
        </p:nvSpPr>
        <p:spPr>
          <a:xfrm>
            <a:off x="685800" y="4727448"/>
            <a:ext cx="3840480" cy="228600"/>
          </a:xfrm>
          <a:prstGeom prst="rect">
            <a:avLst/>
          </a:prstGeom>
          <a:noFill/>
          <a:ln/>
        </p:spPr>
        <p:txBody>
          <a:bodyPr wrap="square" lIns="0" tIns="0" rIns="0" bIns="0" rtlCol="0" anchor="ctr"/>
          <a:lstStyle/>
          <a:p>
            <a:pPr marL="0" indent="0">
              <a:buNone/>
            </a:pPr>
            <a:r>
              <a:rPr lang="en-US" sz="1400" b="1" dirty="0">
                <a:solidFill>
                  <a:srgbClr val="2F75B5"/>
                </a:solidFill>
              </a:rPr>
              <a:t>5. Balance retail and wholesale</a:t>
            </a:r>
            <a:endParaRPr lang="en-US" sz="1400" dirty="0"/>
          </a:p>
        </p:txBody>
      </p:sp>
      <p:sp>
        <p:nvSpPr>
          <p:cNvPr id="14" name="Text 12"/>
          <p:cNvSpPr/>
          <p:nvPr/>
        </p:nvSpPr>
        <p:spPr>
          <a:xfrm>
            <a:off x="868680" y="5029200"/>
            <a:ext cx="10561320" cy="292608"/>
          </a:xfrm>
          <a:prstGeom prst="rect">
            <a:avLst/>
          </a:prstGeom>
          <a:noFill/>
          <a:ln/>
        </p:spPr>
        <p:txBody>
          <a:bodyPr wrap="square" lIns="0" tIns="0" rIns="0" bIns="0" rtlCol="0" anchor="ctr">
            <a:normAutofit/>
          </a:bodyPr>
          <a:lstStyle/>
          <a:p>
            <a:pPr marL="0" indent="0">
              <a:buNone/>
            </a:pPr>
            <a:r>
              <a:rPr lang="en-US" sz="1250" dirty="0">
                <a:solidFill>
                  <a:srgbClr val="333333"/>
                </a:solidFill>
              </a:rPr>
              <a:t>Retail leads slightly, but wholesale remains a major revenue segment and should not be neglected.</a:t>
            </a:r>
            <a:endParaRPr lang="en-US" sz="1250" dirty="0"/>
          </a:p>
        </p:txBody>
      </p:sp>
      <p:sp>
        <p:nvSpPr>
          <p:cNvPr id="15" name="Shape 13"/>
          <p:cNvSpPr/>
          <p:nvPr/>
        </p:nvSpPr>
        <p:spPr>
          <a:xfrm>
            <a:off x="685800" y="5715000"/>
            <a:ext cx="10789920" cy="0"/>
          </a:xfrm>
          <a:prstGeom prst="line">
            <a:avLst/>
          </a:prstGeom>
          <a:noFill/>
          <a:ln w="15240">
            <a:solidFill>
              <a:srgbClr val="D9E2EF"/>
            </a:solidFill>
            <a:prstDash val="solid"/>
          </a:ln>
        </p:spPr>
        <p:txBody>
          <a:bodyPr/>
          <a:lstStyle/>
          <a:p>
            <a:endParaRPr lang="en-US"/>
          </a:p>
        </p:txBody>
      </p:sp>
      <p:sp>
        <p:nvSpPr>
          <p:cNvPr id="16" name="Text 14"/>
          <p:cNvSpPr/>
          <p:nvPr/>
        </p:nvSpPr>
        <p:spPr>
          <a:xfrm>
            <a:off x="685800" y="5925312"/>
            <a:ext cx="10607040" cy="301752"/>
          </a:xfrm>
          <a:prstGeom prst="rect">
            <a:avLst/>
          </a:prstGeom>
          <a:noFill/>
          <a:ln/>
        </p:spPr>
        <p:txBody>
          <a:bodyPr wrap="square" lIns="0" tIns="0" rIns="0" bIns="0" rtlCol="0" anchor="ctr">
            <a:normAutofit/>
          </a:bodyPr>
          <a:lstStyle/>
          <a:p>
            <a:pPr marL="0" indent="0">
              <a:buNone/>
            </a:pPr>
            <a:r>
              <a:rPr lang="en-US" sz="1350" b="1" dirty="0">
                <a:solidFill>
                  <a:srgbClr val="173B57"/>
                </a:solidFill>
              </a:rPr>
              <a:t>Final takeaway: Keystone Retail Solutions should use the dashboard to guide regional sales support, product inventory decisions, and customer-segment strategy.</a:t>
            </a:r>
            <a:endParaRPr lang="en-US" sz="1350" dirty="0"/>
          </a:p>
        </p:txBody>
      </p:sp>
      <p:sp>
        <p:nvSpPr>
          <p:cNvPr id="17" name="Text 15"/>
          <p:cNvSpPr/>
          <p:nvPr/>
        </p:nvSpPr>
        <p:spPr>
          <a:xfrm>
            <a:off x="11567160" y="6473952"/>
            <a:ext cx="274320" cy="182880"/>
          </a:xfrm>
          <a:prstGeom prst="rect">
            <a:avLst/>
          </a:prstGeom>
          <a:noFill/>
          <a:ln/>
        </p:spPr>
        <p:txBody>
          <a:bodyPr wrap="square" lIns="0" tIns="0" rIns="0" bIns="0" rtlCol="0" anchor="ctr"/>
          <a:lstStyle/>
          <a:p>
            <a:pPr marL="0" indent="0" algn="r">
              <a:buNone/>
            </a:pPr>
            <a:r>
              <a:rPr lang="en-US" sz="800" dirty="0">
                <a:solidFill>
                  <a:srgbClr val="808080"/>
                </a:solidFill>
              </a:rPr>
              <a:t>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900</Words>
  <Application>Microsoft Macintosh PowerPoint</Application>
  <PresentationFormat>Widescreen</PresentationFormat>
  <Paragraphs>88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Juan Barrera</dc:creator>
  <cp:keywords/>
  <dc:description/>
  <cp:lastModifiedBy>Barrera, Juan J</cp:lastModifiedBy>
  <cp:revision>2</cp:revision>
  <dcterms:created xsi:type="dcterms:W3CDTF">2026-06-01T23:15:40Z</dcterms:created>
  <dcterms:modified xsi:type="dcterms:W3CDTF">2026-06-01T23:23:36Z</dcterms:modified>
  <cp:category/>
</cp:coreProperties>
</file>